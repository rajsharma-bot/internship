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324" r:id="rId5"/>
    <p:sldId id="323" r:id="rId6"/>
    <p:sldId id="322" r:id="rId7"/>
    <p:sldId id="317" r:id="rId8"/>
    <p:sldId id="271" r:id="rId9"/>
    <p:sldId id="318" r:id="rId10"/>
    <p:sldId id="319" r:id="rId11"/>
    <p:sldId id="327" r:id="rId12"/>
    <p:sldId id="326" r:id="rId13"/>
    <p:sldId id="325" r:id="rId14"/>
    <p:sldId id="321" r:id="rId15"/>
    <p:sldId id="328" r:id="rId16"/>
    <p:sldId id="329" r:id="rId17"/>
    <p:sldId id="331" r:id="rId18"/>
    <p:sldId id="332" r:id="rId19"/>
    <p:sldId id="330" r:id="rId20"/>
    <p:sldId id="31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078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559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9044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670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38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983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782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274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133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19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903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426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5074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608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774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1845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656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D983A38-4E72-424A-9741-8D6F99140998}" type="datetimeFigureOut">
              <a:rPr lang="en-IN" smtClean="0"/>
              <a:t>06-12-2022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A6A64CB0-81BC-42C9-881B-41781EA96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016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5774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02794" y="1302263"/>
            <a:ext cx="7186411" cy="2129440"/>
          </a:xfrm>
        </p:spPr>
        <p:txBody>
          <a:bodyPr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ea typeface="Bahnschrift SemiLight" panose="020B0502040204020203" pitchFamily="34" charset="0"/>
                <a:cs typeface="Arial" panose="020B0604020202020204" pitchFamily="34" charset="0"/>
              </a:rPr>
              <a:t>Product Review Rating Predication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1313" y="5165224"/>
            <a:ext cx="4004061" cy="137293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dirty="0">
                <a:solidFill>
                  <a:srgbClr val="00B050"/>
                </a:solidFill>
                <a:cs typeface="Arial" panose="020B0604020202020204" pitchFamily="34" charset="0"/>
              </a:rPr>
              <a:t>By- Raj Sharma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8694" y="611668"/>
            <a:ext cx="666680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IN" sz="4400" b="1" i="1" dirty="0">
                <a:latin typeface="+mj-lt"/>
                <a:cs typeface="Arial" panose="020B0604020202020204" pitchFamily="34" charset="0"/>
              </a:rPr>
              <a:t>INTRODUCTION</a:t>
            </a:r>
            <a:r>
              <a:rPr lang="en-US" sz="4400" b="1" i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648" y="1500272"/>
            <a:ext cx="10557488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000" dirty="0"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Research has shown that consumer online product ratings reflect both the customers' experience with the product and the influence of others' ratings.</a:t>
            </a:r>
            <a:endParaRPr lang="en-US" sz="2000" dirty="0">
              <a:effectLst/>
              <a:ea typeface="+mn-lt"/>
              <a:cs typeface="Arial" panose="020B060402020202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000" dirty="0"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The opinion information is very useful for users and customers. Businesses can also use the opinion information to design better strategies for production and marketing.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000" dirty="0"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A recent survey (Hinckley, 2015) revealed that 67.7% of consumers are effectively influenced by online reviews when making their purchase decisions.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000" dirty="0"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More precisely, 54.7% recognized that these reviews were either fairly, very or absolutely important in their purchase decision making. </a:t>
            </a:r>
            <a:endParaRPr lang="en-IN" sz="2000" dirty="0">
              <a:ea typeface="Bahnschrift SemiLight" panose="020B0502040204020203" pitchFamily="34" charset="0"/>
              <a:cs typeface="Mangal" panose="02040503050203030202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000" dirty="0">
                <a:ea typeface="Bahnschrift SemiLight" panose="020B0502040204020203" pitchFamily="34" charset="0"/>
                <a:cs typeface="Mangal" panose="02040503050203030202" pitchFamily="18" charset="0"/>
              </a:rPr>
              <a:t>S</a:t>
            </a:r>
            <a:r>
              <a:rPr lang="en-IN" sz="2000" dirty="0"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earching and comparing text reviews can be frustrating for users as they feel submerged with information. </a:t>
            </a:r>
            <a:endParaRPr lang="en-US" sz="2000" dirty="0">
              <a:ea typeface="+mn-lt"/>
              <a:cs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23C455-0824-43C5-A4BA-6B7E73EA0D01}"/>
              </a:ext>
            </a:extLst>
          </p:cNvPr>
          <p:cNvSpPr txBox="1"/>
          <p:nvPr/>
        </p:nvSpPr>
        <p:spPr>
          <a:xfrm>
            <a:off x="2458694" y="611668"/>
            <a:ext cx="6666807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IN" sz="4400" b="1" i="1" dirty="0">
                <a:latin typeface="+mj-lt"/>
                <a:cs typeface="Arial" panose="020B0604020202020204" pitchFamily="34" charset="0"/>
              </a:rPr>
              <a:t>INTRODUCTION</a:t>
            </a:r>
            <a:r>
              <a:rPr lang="en-US" sz="4400" b="1" i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AA6CAF-5746-4552-B4E9-C35F2BD97E9E}"/>
              </a:ext>
            </a:extLst>
          </p:cNvPr>
          <p:cNvSpPr txBox="1"/>
          <p:nvPr/>
        </p:nvSpPr>
        <p:spPr>
          <a:xfrm>
            <a:off x="746422" y="1513151"/>
            <a:ext cx="10699155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000" dirty="0"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The star-rating, i.e., stars from 1 to 5 on online platform, rather than its text content gives a quick overview of the product quality.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000" dirty="0">
                <a:ea typeface="Bahnschrift SemiLight" panose="020B0502040204020203" pitchFamily="34" charset="0"/>
                <a:cs typeface="Mangal" panose="02040503050203030202" pitchFamily="18" charset="0"/>
              </a:rPr>
              <a:t>T</a:t>
            </a:r>
            <a:r>
              <a:rPr lang="en-IN" sz="2000" dirty="0"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he overall star ratings of the product reviews may not capture the exact polarity of the sentiments.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000" u="sng" dirty="0"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For instance, a user may rate a product as good and assign a 5-star score while another user may write the same comment and give only 3 stars.</a:t>
            </a:r>
            <a:r>
              <a:rPr lang="en-IN" sz="2000" dirty="0"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 </a:t>
            </a:r>
            <a:endParaRPr lang="en-IN" sz="2000" dirty="0">
              <a:ea typeface="Bahnschrift SemiLight" panose="020B0502040204020203" pitchFamily="34" charset="0"/>
              <a:cs typeface="Mangal" panose="02040503050203030202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IN" sz="2000" i="1" dirty="0"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The question that arises is how to successfully predict a user’s numerical rating from its review text content</a:t>
            </a:r>
            <a:r>
              <a:rPr lang="en-IN" sz="2000" dirty="0"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. One solution is to rely on </a:t>
            </a:r>
            <a:r>
              <a:rPr lang="en-IN" sz="2000" u="sng" dirty="0"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supervised machine learning techniques such as text classification</a:t>
            </a:r>
            <a:r>
              <a:rPr lang="en-IN" sz="2000" dirty="0"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 which allows to automatically classify a document into a fixed set of classes after being trained over past annotated data.</a:t>
            </a:r>
          </a:p>
        </p:txBody>
      </p:sp>
    </p:spTree>
    <p:extLst>
      <p:ext uri="{BB962C8B-B14F-4D97-AF65-F5344CB8AC3E}">
        <p14:creationId xmlns:p14="http://schemas.microsoft.com/office/powerpoint/2010/main" val="1877849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A4D90C-0487-4C15-B862-01F64C8367CA}"/>
              </a:ext>
            </a:extLst>
          </p:cNvPr>
          <p:cNvSpPr txBox="1"/>
          <p:nvPr/>
        </p:nvSpPr>
        <p:spPr>
          <a:xfrm>
            <a:off x="2906617" y="716861"/>
            <a:ext cx="775671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IN" sz="3200" b="1" dirty="0">
                <a:latin typeface="+mj-lt"/>
                <a:cs typeface="Arial" panose="020B0604020202020204" pitchFamily="34" charset="0"/>
              </a:rPr>
              <a:t>PROBLEM STATEMENT </a:t>
            </a:r>
            <a:endParaRPr lang="en-US" b="1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B5B3F9-8B0F-46EA-923F-C71B32BE5243}"/>
              </a:ext>
            </a:extLst>
          </p:cNvPr>
          <p:cNvSpPr txBox="1"/>
          <p:nvPr/>
        </p:nvSpPr>
        <p:spPr>
          <a:xfrm>
            <a:off x="843014" y="1620544"/>
            <a:ext cx="1050597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just"/>
            <a:r>
              <a:rPr lang="en-IN" sz="2000" dirty="0">
                <a:ea typeface="+mn-lt"/>
                <a:cs typeface="Arial" panose="020B0604020202020204" pitchFamily="34" charset="0"/>
              </a:rPr>
              <a:t>We have a client who has a website where people write different </a:t>
            </a:r>
            <a:r>
              <a:rPr lang="en-US" sz="2000" dirty="0">
                <a:ea typeface="+mn-lt"/>
                <a:cs typeface="Arial" panose="020B0604020202020204" pitchFamily="34" charset="0"/>
              </a:rPr>
              <a:t> </a:t>
            </a:r>
            <a:r>
              <a:rPr lang="en-IN" sz="2000" dirty="0">
                <a:ea typeface="+mn-lt"/>
                <a:cs typeface="Arial" panose="020B0604020202020204" pitchFamily="34" charset="0"/>
              </a:rPr>
              <a:t>reviews for technical products. Now they are adding a new feature </a:t>
            </a:r>
            <a:r>
              <a:rPr lang="en-US" sz="2000" dirty="0">
                <a:ea typeface="+mn-lt"/>
                <a:cs typeface="Arial" panose="020B0604020202020204" pitchFamily="34" charset="0"/>
              </a:rPr>
              <a:t> </a:t>
            </a:r>
            <a:r>
              <a:rPr lang="en-IN" sz="2000" dirty="0">
                <a:ea typeface="+mn-lt"/>
                <a:cs typeface="Arial" panose="020B0604020202020204" pitchFamily="34" charset="0"/>
              </a:rPr>
              <a:t>to their website i.e. The reviewer will have to add stars(rating) as </a:t>
            </a:r>
            <a:r>
              <a:rPr lang="en-US" sz="2000" dirty="0">
                <a:ea typeface="+mn-lt"/>
                <a:cs typeface="Arial" panose="020B0604020202020204" pitchFamily="34" charset="0"/>
              </a:rPr>
              <a:t> </a:t>
            </a:r>
            <a:r>
              <a:rPr lang="en-IN" sz="2000" dirty="0">
                <a:ea typeface="+mn-lt"/>
                <a:cs typeface="Arial" panose="020B0604020202020204" pitchFamily="34" charset="0"/>
              </a:rPr>
              <a:t>well with the review. The rating is out 5 stars and it only has 5 </a:t>
            </a:r>
            <a:r>
              <a:rPr lang="en-US" sz="2000" dirty="0">
                <a:ea typeface="+mn-lt"/>
                <a:cs typeface="Arial" panose="020B0604020202020204" pitchFamily="34" charset="0"/>
              </a:rPr>
              <a:t> </a:t>
            </a:r>
            <a:r>
              <a:rPr lang="en-IN" sz="2000" dirty="0">
                <a:ea typeface="+mn-lt"/>
                <a:cs typeface="Arial" panose="020B0604020202020204" pitchFamily="34" charset="0"/>
              </a:rPr>
              <a:t>options available 1 star, 2 stars, 3 stars, 4 stars, 5 stars. Now they </a:t>
            </a:r>
            <a:r>
              <a:rPr lang="en-US" sz="2000" dirty="0">
                <a:ea typeface="+mn-lt"/>
                <a:cs typeface="Arial" panose="020B0604020202020204" pitchFamily="34" charset="0"/>
              </a:rPr>
              <a:t> </a:t>
            </a:r>
            <a:r>
              <a:rPr lang="en-IN" sz="2000" dirty="0">
                <a:ea typeface="+mn-lt"/>
                <a:cs typeface="Arial" panose="020B0604020202020204" pitchFamily="34" charset="0"/>
              </a:rPr>
              <a:t>want to predict ratings for the reviews which were written in the </a:t>
            </a:r>
            <a:r>
              <a:rPr lang="en-US" sz="2000" dirty="0">
                <a:ea typeface="+mn-lt"/>
                <a:cs typeface="Arial" panose="020B0604020202020204" pitchFamily="34" charset="0"/>
              </a:rPr>
              <a:t> </a:t>
            </a:r>
            <a:r>
              <a:rPr lang="en-IN" sz="2000" dirty="0">
                <a:ea typeface="+mn-lt"/>
                <a:cs typeface="Arial" panose="020B0604020202020204" pitchFamily="34" charset="0"/>
              </a:rPr>
              <a:t>past and they don’t have rating. </a:t>
            </a:r>
          </a:p>
          <a:p>
            <a:pPr algn="just"/>
            <a:endParaRPr lang="en-IN" sz="2000" dirty="0">
              <a:ea typeface="+mn-lt"/>
              <a:cs typeface="Arial" panose="020B0604020202020204" pitchFamily="34" charset="0"/>
            </a:endParaRPr>
          </a:p>
          <a:p>
            <a:pPr algn="just"/>
            <a:r>
              <a:rPr lang="en-IN" sz="2000" i="1" dirty="0">
                <a:ea typeface="+mn-lt"/>
                <a:cs typeface="Arial" panose="020B0604020202020204" pitchFamily="34" charset="0"/>
              </a:rPr>
              <a:t>So we, we have to build </a:t>
            </a:r>
            <a:r>
              <a:rPr lang="en-US" sz="2000" i="1" dirty="0">
                <a:ea typeface="+mn-lt"/>
                <a:cs typeface="Arial" panose="020B0604020202020204" pitchFamily="34" charset="0"/>
              </a:rPr>
              <a:t> </a:t>
            </a:r>
            <a:r>
              <a:rPr lang="en-IN" sz="2000" i="1" dirty="0">
                <a:ea typeface="+mn-lt"/>
                <a:cs typeface="Arial" panose="020B0604020202020204" pitchFamily="34" charset="0"/>
              </a:rPr>
              <a:t>an application which can predict the rating by seeing the review.</a:t>
            </a:r>
            <a:endParaRPr lang="en-US" sz="2000" i="1" dirty="0">
              <a:ea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390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10467E1-5820-4852-9CBC-1118D497E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Scraping Details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6524E-6726-4E9E-9579-43D95CE19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Scraping done using selenium web driver.</a:t>
            </a:r>
          </a:p>
          <a:p>
            <a:r>
              <a:rPr lang="en-US" dirty="0"/>
              <a:t>Data for different product like smartphones, laptops, routers is scraped.</a:t>
            </a:r>
          </a:p>
          <a:p>
            <a:r>
              <a:rPr lang="en-US" dirty="0"/>
              <a:t>Data scraped from amazon.in &amp; Flipkart.com</a:t>
            </a:r>
          </a:p>
          <a:p>
            <a:r>
              <a:rPr lang="en-US" dirty="0"/>
              <a:t>Around 50000 product reviews are scrap for this project.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854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C76C44F-1D9A-4B31-A0C5-A692F99BE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13" y="927279"/>
            <a:ext cx="9534197" cy="1025003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Exploration of Target Variable Ratings</a:t>
            </a:r>
            <a:endParaRPr lang="en-IN" sz="44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A7E6541-12E9-482A-B0F2-38B08DC30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42674" y="2321252"/>
            <a:ext cx="3602478" cy="3139390"/>
          </a:xfrm>
        </p:spPr>
        <p:txBody>
          <a:bodyPr>
            <a:normAutofit/>
          </a:bodyPr>
          <a:lstStyle/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solidFill>
                  <a:schemeClr val="tx1"/>
                </a:solidFill>
                <a:effectLst/>
                <a:latin typeface="Bahnschrift SemiLight" panose="020B0502040204020203" pitchFamily="34" charset="0"/>
                <a:ea typeface="Bahnschrift SemiLight" panose="020B0502040204020203" pitchFamily="34" charset="0"/>
                <a:cs typeface="Mangal" panose="02040503050203030202" pitchFamily="18" charset="0"/>
              </a:rPr>
              <a:t>Comment: 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solidFill>
                  <a:schemeClr val="tx1"/>
                </a:solidFill>
                <a:effectLst/>
                <a:latin typeface="Bahnschrift SemiLight" panose="020B0502040204020203" pitchFamily="34" charset="0"/>
                <a:ea typeface="Bahnschrift SemiLight" panose="020B0502040204020203" pitchFamily="34" charset="0"/>
                <a:cs typeface="Mangal" panose="02040503050203030202" pitchFamily="18" charset="0"/>
              </a:rPr>
              <a:t>1. Around 49% customer given 5- star rating followed by 22.5% customer given lowest 1-star rating.</a:t>
            </a:r>
          </a:p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solidFill>
                  <a:schemeClr val="tx1"/>
                </a:solidFill>
                <a:effectLst/>
                <a:latin typeface="Bahnschrift SemiLight" panose="020B0502040204020203" pitchFamily="34" charset="0"/>
                <a:ea typeface="Bahnschrift SemiLight" panose="020B0502040204020203" pitchFamily="34" charset="0"/>
                <a:cs typeface="Mangal" panose="02040503050203030202" pitchFamily="18" charset="0"/>
              </a:rPr>
              <a:t>2. Average Rating is 3.65.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B7C161-580C-476B-997C-CA9BC790A0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848" y="2351922"/>
            <a:ext cx="6575951" cy="3108720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3170" y="181708"/>
            <a:ext cx="1152774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sz="4000" b="1" dirty="0">
              <a:cs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46246" y="6424247"/>
            <a:ext cx="3505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IN" sz="1600" dirty="0">
              <a:latin typeface="WordVisi_MSFontService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909FB68-954B-4D5E-8A8D-B280500D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 Processing 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25172E-A8FD-4E1B-92E5-BC4BC8B99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77838"/>
            <a:ext cx="9737498" cy="3554569"/>
          </a:xfrm>
        </p:spPr>
        <p:txBody>
          <a:bodyPr>
            <a:normAutofit/>
          </a:bodyPr>
          <a:lstStyle/>
          <a:p>
            <a:pPr lvl="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Convert the text to lowercase 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Remove the punctuations, digits and special characters 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Tokenize the text, filter out the adjectives used in the review and create a new column in data frame 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Remove the stop words</a:t>
            </a:r>
          </a:p>
          <a:p>
            <a:pPr lvl="0">
              <a:lnSpc>
                <a:spcPct val="107000"/>
              </a:lnSpc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Stemming and Lemmatising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/>
                </a:solidFill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Applying Text Vectorization to convert text into numeric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145E64-7E6C-49C0-A9B8-2D830405D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Cloud for getting word sense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E2144F-75F5-4324-A68D-42A58B096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228600" algn="l"/>
                <a:tab pos="457200" algn="l"/>
              </a:tabLst>
            </a:pPr>
            <a:r>
              <a:rPr lang="en-IN" dirty="0">
                <a:solidFill>
                  <a:schemeClr val="tx1"/>
                </a:solidFill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Word Cloud is a visualization technique for text data wherein each word is picturized with its importance in the context or its frequency.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228600" algn="l"/>
                <a:tab pos="457200" algn="l"/>
              </a:tabLst>
            </a:pPr>
            <a:r>
              <a:rPr lang="en-IN" dirty="0">
                <a:solidFill>
                  <a:schemeClr val="tx1"/>
                </a:solidFill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The more commonly the term appears within the text being analysed, the larger the word appears in the image generated.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228600" algn="l"/>
              </a:tabLst>
            </a:pPr>
            <a:r>
              <a:rPr lang="en-IN" dirty="0">
                <a:solidFill>
                  <a:schemeClr val="tx1"/>
                </a:solidFill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The enlarged texts are the greatest number of words used there and small texts are the smaller number of words used.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7768D50-C8D7-4629-9748-69AE960EB43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168165" y="715750"/>
            <a:ext cx="7259638" cy="507047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5C80C5-0F19-481D-9E53-E7B89F69C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534" y="887412"/>
            <a:ext cx="7252932" cy="508317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22204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912D0E-8FBC-44F1-BBAF-D8E55714F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538" y="862886"/>
            <a:ext cx="7124133" cy="499700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45210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3FD62B5-52AE-4E91-800A-60A2D5FD9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9233" y="919029"/>
            <a:ext cx="7173533" cy="501994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23338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DDC0BE-0B2E-4A21-A487-7B22061DA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470" y="837269"/>
            <a:ext cx="7401059" cy="518346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453F84-EDC6-4F42-B2BB-3B7676866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741" y="2630782"/>
            <a:ext cx="4765040" cy="136461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385A97-8106-462F-833F-2B29C9B5BB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503" y="4214657"/>
            <a:ext cx="5723505" cy="165257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E7D5E9-1B80-47DE-8DA0-0ED1291B839B}"/>
              </a:ext>
            </a:extLst>
          </p:cNvPr>
          <p:cNvSpPr txBox="1"/>
          <p:nvPr/>
        </p:nvSpPr>
        <p:spPr>
          <a:xfrm>
            <a:off x="1378036" y="1359882"/>
            <a:ext cx="2781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Web Scraping Library used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3DAEF-D008-44F9-9ACA-3E854A6BC371}"/>
              </a:ext>
            </a:extLst>
          </p:cNvPr>
          <p:cNvSpPr txBox="1"/>
          <p:nvPr/>
        </p:nvSpPr>
        <p:spPr>
          <a:xfrm>
            <a:off x="1378038" y="3059668"/>
            <a:ext cx="2781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Mining Library used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A82483-21C2-4528-B90B-B0177A53DB52}"/>
              </a:ext>
            </a:extLst>
          </p:cNvPr>
          <p:cNvSpPr txBox="1"/>
          <p:nvPr/>
        </p:nvSpPr>
        <p:spPr>
          <a:xfrm>
            <a:off x="1378037" y="4810113"/>
            <a:ext cx="2781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Machine Learning model building Library used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665F5E-A10B-2873-BDFC-43DDD285A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238" y="1058596"/>
            <a:ext cx="6111770" cy="134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86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E5ED-E1CF-45CF-A4DD-C013C4107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Model Building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2F6FD-E7BA-4F2D-8809-05A9319CF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b="1" dirty="0">
                <a:solidFill>
                  <a:schemeClr val="tx1"/>
                </a:solidFill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The different classification algorithm used in this project to build ML model are as below:</a:t>
            </a:r>
            <a:endParaRPr lang="en-IN" dirty="0">
              <a:solidFill>
                <a:schemeClr val="tx1"/>
              </a:solidFill>
              <a:effectLst/>
              <a:ea typeface="Bahnschrift SemiLight" panose="020B0502040204020203" pitchFamily="34" charset="0"/>
              <a:cs typeface="Mangal" panose="02040503050203030202" pitchFamily="18" charset="0"/>
            </a:endParaRPr>
          </a:p>
          <a:p>
            <a:pPr marL="342900" lvl="0" indent="-342900" algn="just">
              <a:lnSpc>
                <a:spcPct val="106000"/>
              </a:lnSpc>
              <a:buFont typeface="Wingdings" panose="05000000000000000000" pitchFamily="2" charset="2"/>
              <a:buChar char=""/>
            </a:pPr>
            <a:r>
              <a:rPr lang="en-IN" dirty="0">
                <a:solidFill>
                  <a:schemeClr val="tx1"/>
                </a:solidFill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Random Forest classifier</a:t>
            </a:r>
          </a:p>
          <a:p>
            <a:pPr marL="342900" lvl="0" indent="-342900" algn="just">
              <a:lnSpc>
                <a:spcPct val="106000"/>
              </a:lnSpc>
              <a:buFont typeface="Wingdings" panose="05000000000000000000" pitchFamily="2" charset="2"/>
              <a:buChar char=""/>
            </a:pPr>
            <a:r>
              <a:rPr lang="en-IN" dirty="0">
                <a:solidFill>
                  <a:schemeClr val="tx1"/>
                </a:solidFill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Decision Tree classifier</a:t>
            </a:r>
          </a:p>
          <a:p>
            <a:pPr marL="342900" lvl="0" indent="-342900" algn="just">
              <a:lnSpc>
                <a:spcPct val="106000"/>
              </a:lnSpc>
              <a:buFont typeface="Wingdings" panose="05000000000000000000" pitchFamily="2" charset="2"/>
              <a:buChar char=""/>
            </a:pPr>
            <a:r>
              <a:rPr lang="en-IN" dirty="0">
                <a:solidFill>
                  <a:schemeClr val="tx1"/>
                </a:solidFill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Logistics Regression</a:t>
            </a:r>
          </a:p>
          <a:p>
            <a:pPr marL="342900" lvl="0" indent="-342900" algn="just">
              <a:lnSpc>
                <a:spcPct val="106000"/>
              </a:lnSpc>
              <a:buFont typeface="Wingdings" panose="05000000000000000000" pitchFamily="2" charset="2"/>
              <a:buChar char=""/>
            </a:pPr>
            <a:r>
              <a:rPr lang="en-IN" dirty="0">
                <a:solidFill>
                  <a:schemeClr val="tx1"/>
                </a:solidFill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AdaBoost Classifier</a:t>
            </a:r>
          </a:p>
          <a:p>
            <a:pPr marL="342900" lvl="0" indent="-342900" algn="just">
              <a:lnSpc>
                <a:spcPct val="106000"/>
              </a:lnSpc>
              <a:spcAft>
                <a:spcPts val="800"/>
              </a:spcAft>
              <a:buFont typeface="Wingdings" panose="05000000000000000000" pitchFamily="2" charset="2"/>
              <a:buChar char=""/>
            </a:pPr>
            <a:r>
              <a:rPr lang="en-IN" dirty="0">
                <a:solidFill>
                  <a:schemeClr val="tx1"/>
                </a:solidFill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Gradient Boosting Classifier</a:t>
            </a:r>
          </a:p>
        </p:txBody>
      </p:sp>
    </p:spTree>
    <p:extLst>
      <p:ext uri="{BB962C8B-B14F-4D97-AF65-F5344CB8AC3E}">
        <p14:creationId xmlns:p14="http://schemas.microsoft.com/office/powerpoint/2010/main" val="1024489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80234-2213-4E83-AC78-690DE41A0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Random Forest Classifier gives maximum accuracy score.</a:t>
            </a:r>
          </a:p>
          <a:p>
            <a:r>
              <a:rPr lang="en-US" dirty="0"/>
              <a:t>Hyper parameter Tuning is perform over this best model.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6C0DEC0-5703-4470-8ACA-9E30B516F09B}"/>
              </a:ext>
            </a:extLst>
          </p:cNvPr>
          <p:cNvSpPr txBox="1">
            <a:spLocks/>
          </p:cNvSpPr>
          <p:nvPr/>
        </p:nvSpPr>
        <p:spPr>
          <a:xfrm>
            <a:off x="1295401" y="110770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Machine Learning Evaluation Matrix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897C66-0F94-4068-B3D1-9DB131EF7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142" y="3819167"/>
            <a:ext cx="8143715" cy="107480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89767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E2243-A2A9-4D9B-B8AD-D4642BE80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ML Model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8FB27C-CC01-44E3-8A82-801F32C76D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433" y="2545114"/>
            <a:ext cx="4397060" cy="356227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C9742C-7469-45F0-89FF-4D56FE804532}"/>
              </a:ext>
            </a:extLst>
          </p:cNvPr>
          <p:cNvSpPr txBox="1"/>
          <p:nvPr/>
        </p:nvSpPr>
        <p:spPr>
          <a:xfrm>
            <a:off x="6272012" y="2545114"/>
            <a:ext cx="46932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effectLst/>
                <a:ea typeface="Bahnschrift SemiLight" panose="020B0502040204020203" pitchFamily="34" charset="0"/>
                <a:cs typeface="Mangal" panose="02040503050203030202" pitchFamily="18" charset="0"/>
              </a:rPr>
              <a:t>5-fold Cross validation performed over all model. We can see that Random Forest Classifier gives us good Accuracy and maximum f1 score along with best Cross-validation score. Hyperparameter tuning is applied over Random Forest model and used it as final model.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90903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368C1-6EFC-4761-B6AD-9E460A180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Evaluation Matrix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348ABD-9151-4BF9-8183-D2D3C56093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99256" y="2550017"/>
          <a:ext cx="7418231" cy="3490179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981807">
                  <a:extLst>
                    <a:ext uri="{9D8B030D-6E8A-4147-A177-3AD203B41FA5}">
                      <a16:colId xmlns:a16="http://schemas.microsoft.com/office/drawing/2014/main" val="1671726111"/>
                    </a:ext>
                  </a:extLst>
                </a:gridCol>
                <a:gridCol w="1047872">
                  <a:extLst>
                    <a:ext uri="{9D8B030D-6E8A-4147-A177-3AD203B41FA5}">
                      <a16:colId xmlns:a16="http://schemas.microsoft.com/office/drawing/2014/main" val="2246680220"/>
                    </a:ext>
                  </a:extLst>
                </a:gridCol>
                <a:gridCol w="1008648">
                  <a:extLst>
                    <a:ext uri="{9D8B030D-6E8A-4147-A177-3AD203B41FA5}">
                      <a16:colId xmlns:a16="http://schemas.microsoft.com/office/drawing/2014/main" val="937756041"/>
                    </a:ext>
                  </a:extLst>
                </a:gridCol>
                <a:gridCol w="1066552">
                  <a:extLst>
                    <a:ext uri="{9D8B030D-6E8A-4147-A177-3AD203B41FA5}">
                      <a16:colId xmlns:a16="http://schemas.microsoft.com/office/drawing/2014/main" val="1002023321"/>
                    </a:ext>
                  </a:extLst>
                </a:gridCol>
                <a:gridCol w="1156208">
                  <a:extLst>
                    <a:ext uri="{9D8B030D-6E8A-4147-A177-3AD203B41FA5}">
                      <a16:colId xmlns:a16="http://schemas.microsoft.com/office/drawing/2014/main" val="1332198704"/>
                    </a:ext>
                  </a:extLst>
                </a:gridCol>
                <a:gridCol w="1157144">
                  <a:extLst>
                    <a:ext uri="{9D8B030D-6E8A-4147-A177-3AD203B41FA5}">
                      <a16:colId xmlns:a16="http://schemas.microsoft.com/office/drawing/2014/main" val="292135937"/>
                    </a:ext>
                  </a:extLst>
                </a:gridCol>
              </a:tblGrid>
              <a:tr h="49231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Algorithm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dirty="0">
                          <a:effectLst/>
                        </a:rPr>
                        <a:t>Accuracy Score</a:t>
                      </a:r>
                      <a:endParaRPr lang="en-IN" sz="1200" b="1" dirty="0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Recall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Precision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F1 Score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CV Score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42894297"/>
                  </a:ext>
                </a:extLst>
              </a:tr>
              <a:tr h="492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Logistics Regression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0.9071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0.86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0.94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0.91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0.5794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86730268"/>
                  </a:ext>
                </a:extLst>
              </a:tr>
              <a:tr h="492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Decision Tree Classifier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0.8957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0.86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0.90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0.90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0.5298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29352511"/>
                  </a:ext>
                </a:extLst>
              </a:tr>
              <a:tr h="492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Random Forest Classifier (RFC)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0.9133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0.87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0.94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0.91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0.5621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675175"/>
                  </a:ext>
                </a:extLst>
              </a:tr>
              <a:tr h="492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Gradient Boosting Classifier 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0.9022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0.86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0.94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0.90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0.6113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89250280"/>
                  </a:ext>
                </a:extLst>
              </a:tr>
              <a:tr h="5363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Ada Boost Classifier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0.5932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0.39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0.60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0.59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0.5204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2685957"/>
                  </a:ext>
                </a:extLst>
              </a:tr>
              <a:tr h="49231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Final Model (RFC- Tuned)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0.9136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0.87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0.94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>
                          <a:effectLst/>
                        </a:rPr>
                        <a:t>0.91</a:t>
                      </a:r>
                      <a:endParaRPr lang="en-IN" sz="1200" b="1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b="1" dirty="0">
                          <a:effectLst/>
                        </a:rPr>
                        <a:t>0.5730</a:t>
                      </a:r>
                      <a:endParaRPr lang="en-IN" sz="1200" b="1" dirty="0">
                        <a:effectLst/>
                        <a:latin typeface="Bahnschrift SemiLight" panose="020B0502040204020203" pitchFamily="34" charset="0"/>
                        <a:ea typeface="Bahnschrift SemiLight" panose="020B0502040204020203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15452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464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2837" y="1022863"/>
            <a:ext cx="9366325" cy="1143000"/>
          </a:xfrm>
        </p:spPr>
        <p:txBody>
          <a:bodyPr>
            <a:normAutofit/>
          </a:bodyPr>
          <a:lstStyle/>
          <a:p>
            <a:r>
              <a:rPr lang="en-US" sz="4400" b="1" i="1" dirty="0">
                <a:solidFill>
                  <a:schemeClr val="tx1"/>
                </a:solidFill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40169"/>
            <a:ext cx="10181573" cy="33906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IN" sz="2800" dirty="0">
                <a:solidFill>
                  <a:schemeClr val="tx1"/>
                </a:solidFill>
                <a:ea typeface="+mn-lt"/>
                <a:cs typeface="Arial" panose="020B0604020202020204" pitchFamily="34" charset="0"/>
              </a:rPr>
              <a:t>Successfully developed Machine learning model to predict product review ratings.</a:t>
            </a:r>
          </a:p>
          <a:p>
            <a:pPr marL="457200" indent="-457200"/>
            <a:r>
              <a:rPr lang="en-IN" sz="2800" dirty="0">
                <a:solidFill>
                  <a:schemeClr val="tx1"/>
                </a:solidFill>
                <a:ea typeface="+mn-lt"/>
                <a:cs typeface="Arial" panose="020B0604020202020204" pitchFamily="34" charset="0"/>
              </a:rPr>
              <a:t>NLTK library used for text Mining. </a:t>
            </a:r>
          </a:p>
          <a:p>
            <a:pPr marL="457200" indent="-457200"/>
            <a:r>
              <a:rPr lang="en-IN" sz="2800" dirty="0">
                <a:solidFill>
                  <a:schemeClr val="tx1"/>
                </a:solidFill>
                <a:ea typeface="+mn-lt"/>
                <a:cs typeface="Arial" panose="020B0604020202020204" pitchFamily="34" charset="0"/>
              </a:rPr>
              <a:t>Random forest classifier model is best model with accuracy score of 91.36%.</a:t>
            </a:r>
            <a:endParaRPr lang="en-US" sz="28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Override1.xml><?xml version="1.0" encoding="utf-8"?>
<a:themeOverride xmlns:a="http://schemas.openxmlformats.org/drawingml/2006/main">
  <a:clrScheme name="Ion Boardroom">
    <a:dk1>
      <a:sysClr val="windowText" lastClr="000000"/>
    </a:dk1>
    <a:lt1>
      <a:sysClr val="window" lastClr="FFFFFF"/>
    </a:lt1>
    <a:dk2>
      <a:srgbClr val="3B3059"/>
    </a:dk2>
    <a:lt2>
      <a:srgbClr val="EBEBEB"/>
    </a:lt2>
    <a:accent1>
      <a:srgbClr val="B31166"/>
    </a:accent1>
    <a:accent2>
      <a:srgbClr val="E33D6F"/>
    </a:accent2>
    <a:accent3>
      <a:srgbClr val="E45F3C"/>
    </a:accent3>
    <a:accent4>
      <a:srgbClr val="E9943A"/>
    </a:accent4>
    <a:accent5>
      <a:srgbClr val="9B6BF2"/>
    </a:accent5>
    <a:accent6>
      <a:srgbClr val="D53DD0"/>
    </a:accent6>
    <a:hlink>
      <a:srgbClr val="8F8F8F"/>
    </a:hlink>
    <a:folHlink>
      <a:srgbClr val="A5A5A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793</Words>
  <Application>Microsoft Office PowerPoint</Application>
  <PresentationFormat>Widescreen</PresentationFormat>
  <Paragraphs>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Bahnschrift SemiLight</vt:lpstr>
      <vt:lpstr>Century Gothic</vt:lpstr>
      <vt:lpstr>Symbol</vt:lpstr>
      <vt:lpstr>Wingdings</vt:lpstr>
      <vt:lpstr>Wingdings 3</vt:lpstr>
      <vt:lpstr>WordVisi_MSFontService</vt:lpstr>
      <vt:lpstr>Ion Boardroom</vt:lpstr>
      <vt:lpstr>PowerPoint Presentation</vt:lpstr>
      <vt:lpstr>Product Review Rating Predication</vt:lpstr>
      <vt:lpstr>PowerPoint Presentation</vt:lpstr>
      <vt:lpstr>PowerPoint Presentation</vt:lpstr>
      <vt:lpstr>PowerPoint Presentation</vt:lpstr>
      <vt:lpstr>Web Scraping Details</vt:lpstr>
      <vt:lpstr>Exploration of Target Variable Ratings</vt:lpstr>
      <vt:lpstr>Data Pre Processing </vt:lpstr>
      <vt:lpstr>Word Cloud for getting word sense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Machine Learning Model Building</vt:lpstr>
      <vt:lpstr>PowerPoint Presentation</vt:lpstr>
      <vt:lpstr>Final ML Model</vt:lpstr>
      <vt:lpstr>Machine Learning Evaluation Matrix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</dc:creator>
  <cp:lastModifiedBy>Raj</cp:lastModifiedBy>
  <cp:revision>1</cp:revision>
  <dcterms:created xsi:type="dcterms:W3CDTF">2022-12-06T17:51:49Z</dcterms:created>
  <dcterms:modified xsi:type="dcterms:W3CDTF">2022-12-06T18:32:58Z</dcterms:modified>
</cp:coreProperties>
</file>