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7" r:id="rId2"/>
    <p:sldId id="271" r:id="rId3"/>
    <p:sldId id="272" r:id="rId4"/>
    <p:sldId id="273" r:id="rId5"/>
    <p:sldId id="274" r:id="rId6"/>
    <p:sldId id="261" r:id="rId7"/>
    <p:sldId id="275" r:id="rId8"/>
    <p:sldId id="276" r:id="rId9"/>
    <p:sldId id="284" r:id="rId10"/>
    <p:sldId id="277" r:id="rId11"/>
    <p:sldId id="278" r:id="rId12"/>
    <p:sldId id="279" r:id="rId13"/>
    <p:sldId id="280" r:id="rId14"/>
    <p:sldId id="281" r:id="rId15"/>
    <p:sldId id="282" r:id="rId16"/>
    <p:sldId id="283" r:id="rId17"/>
    <p:sldId id="285" r:id="rId18"/>
    <p:sldId id="286" r:id="rId19"/>
    <p:sldId id="287" r:id="rId20"/>
    <p:sldId id="288" r:id="rId21"/>
    <p:sldId id="290" r:id="rId22"/>
    <p:sldId id="291" r:id="rId23"/>
    <p:sldId id="292" r:id="rId24"/>
    <p:sldId id="289" r:id="rId25"/>
    <p:sldId id="296" r:id="rId26"/>
    <p:sldId id="297" r:id="rId27"/>
    <p:sldId id="293" r:id="rId28"/>
    <p:sldId id="298" r:id="rId29"/>
    <p:sldId id="299" r:id="rId30"/>
    <p:sldId id="300" r:id="rId31"/>
    <p:sldId id="294" r:id="rId32"/>
    <p:sldId id="295" r:id="rId33"/>
    <p:sldId id="301" r:id="rId34"/>
    <p:sldId id="302" r:id="rId35"/>
    <p:sldId id="303" r:id="rId36"/>
    <p:sldId id="304" r:id="rId37"/>
    <p:sldId id="306"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snapToGrid="0">
      <p:cViewPr varScale="1">
        <p:scale>
          <a:sx n="81" d="100"/>
          <a:sy n="81" d="100"/>
        </p:scale>
        <p:origin x="7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477C40-6072-4E37-8BB7-543B2237E412}" type="datetimeFigureOut">
              <a:rPr lang="en-IN" smtClean="0"/>
              <a:t>21-10-2022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FFADA7-19C2-4F92-AC73-A27914FBAA6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0900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477C40-6072-4E37-8BB7-543B2237E412}" type="datetimeFigureOut">
              <a:rPr lang="en-IN" smtClean="0"/>
              <a:t>21-10-2022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2667660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477C40-6072-4E37-8BB7-543B2237E412}" type="datetimeFigureOut">
              <a:rPr lang="en-IN" smtClean="0"/>
              <a:t>21-10-2022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FFADA7-19C2-4F92-AC73-A27914FBAA6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66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477C40-6072-4E37-8BB7-543B2237E412}" type="datetimeFigureOut">
              <a:rPr lang="en-IN" smtClean="0"/>
              <a:t>21-10-2022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235096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477C40-6072-4E37-8BB7-543B2237E412}" type="datetimeFigureOut">
              <a:rPr lang="en-IN" smtClean="0"/>
              <a:t>21-10-2022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2881911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477C40-6072-4E37-8BB7-543B2237E412}" type="datetimeFigureOut">
              <a:rPr lang="en-IN" smtClean="0"/>
              <a:t>21-10-2022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3302331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1477C40-6072-4E37-8BB7-543B2237E412}" type="datetimeFigureOut">
              <a:rPr lang="en-IN" smtClean="0"/>
              <a:t>21-10-2022</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2876435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1477C40-6072-4E37-8BB7-543B2237E412}" type="datetimeFigureOut">
              <a:rPr lang="en-IN" smtClean="0"/>
              <a:t>21-10-2022</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FFADA7-19C2-4F92-AC73-A27914FBAA6B}" type="slidenum">
              <a:rPr lang="en-IN" smtClean="0"/>
              <a:t>‹#›</a:t>
            </a:fld>
            <a:endParaRPr lang="en-IN"/>
          </a:p>
        </p:txBody>
      </p:sp>
    </p:spTree>
    <p:extLst>
      <p:ext uri="{BB962C8B-B14F-4D97-AF65-F5344CB8AC3E}">
        <p14:creationId xmlns:p14="http://schemas.microsoft.com/office/powerpoint/2010/main" val="808851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477C40-6072-4E37-8BB7-543B2237E412}" type="datetimeFigureOut">
              <a:rPr lang="en-IN" smtClean="0"/>
              <a:t>21-10-2022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1992067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477C40-6072-4E37-8BB7-543B2237E412}" type="datetimeFigureOut">
              <a:rPr lang="en-IN" smtClean="0"/>
              <a:t>21-10-2022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2195757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477C40-6072-4E37-8BB7-543B2237E412}" type="datetimeFigureOut">
              <a:rPr lang="en-IN" smtClean="0"/>
              <a:t>21-10-2022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FFADA7-19C2-4F92-AC73-A27914FBAA6B}" type="slidenum">
              <a:rPr lang="en-IN" smtClean="0"/>
              <a:t>‹#›</a:t>
            </a:fld>
            <a:endParaRPr lang="en-IN"/>
          </a:p>
        </p:txBody>
      </p:sp>
    </p:spTree>
    <p:extLst>
      <p:ext uri="{BB962C8B-B14F-4D97-AF65-F5344CB8AC3E}">
        <p14:creationId xmlns:p14="http://schemas.microsoft.com/office/powerpoint/2010/main" val="1998351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1477C40-6072-4E37-8BB7-543B2237E412}" type="datetimeFigureOut">
              <a:rPr lang="en-IN" smtClean="0"/>
              <a:t>21-10-2022</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FFADA7-19C2-4F92-AC73-A27914FBAA6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01483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1AAE91-8FC3-B0FA-8E93-7A21DD9B0282}"/>
              </a:ext>
            </a:extLst>
          </p:cNvPr>
          <p:cNvSpPr/>
          <p:nvPr/>
        </p:nvSpPr>
        <p:spPr>
          <a:xfrm>
            <a:off x="806428" y="1097936"/>
            <a:ext cx="10345910" cy="1107996"/>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dirty="0">
                <a:ln w="0"/>
                <a:effectLst>
                  <a:outerShdw blurRad="38100" dist="19050" dir="2700000" algn="tl" rotWithShape="0">
                    <a:schemeClr val="dk1">
                      <a:alpha val="40000"/>
                    </a:schemeClr>
                  </a:outerShdw>
                </a:effectLst>
              </a:rPr>
              <a:t>Micro-Credit Defaulter Model</a:t>
            </a:r>
            <a:endParaRPr lang="en-IN" sz="6600" dirty="0">
              <a:ln w="0"/>
              <a:effectLst>
                <a:outerShdw blurRad="38100" dist="19050" dir="2700000" algn="tl" rotWithShape="0">
                  <a:schemeClr val="dk1">
                    <a:alpha val="40000"/>
                  </a:schemeClr>
                </a:outerShdw>
              </a:effectLst>
            </a:endParaRPr>
          </a:p>
        </p:txBody>
      </p:sp>
      <p:sp>
        <p:nvSpPr>
          <p:cNvPr id="2" name="TextBox 1">
            <a:extLst>
              <a:ext uri="{FF2B5EF4-FFF2-40B4-BE49-F238E27FC236}">
                <a16:creationId xmlns:a16="http://schemas.microsoft.com/office/drawing/2014/main" id="{757A8AC3-B90A-D833-417B-F53129CCEB42}"/>
              </a:ext>
            </a:extLst>
          </p:cNvPr>
          <p:cNvSpPr txBox="1"/>
          <p:nvPr/>
        </p:nvSpPr>
        <p:spPr>
          <a:xfrm>
            <a:off x="9247695" y="5608948"/>
            <a:ext cx="2295821" cy="646331"/>
          </a:xfrm>
          <a:prstGeom prst="rect">
            <a:avLst/>
          </a:prstGeom>
          <a:noFill/>
        </p:spPr>
        <p:txBody>
          <a:bodyPr wrap="none" rtlCol="0">
            <a:spAutoFit/>
          </a:bodyPr>
          <a:lstStyle/>
          <a:p>
            <a:r>
              <a:rPr lang="en-US" sz="3600" dirty="0"/>
              <a:t>Raj Sharma</a:t>
            </a:r>
            <a:endParaRPr lang="en-IN" sz="3600" dirty="0"/>
          </a:p>
        </p:txBody>
      </p:sp>
    </p:spTree>
    <p:extLst>
      <p:ext uri="{BB962C8B-B14F-4D97-AF65-F5344CB8AC3E}">
        <p14:creationId xmlns:p14="http://schemas.microsoft.com/office/powerpoint/2010/main" val="3509770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C5C39-1079-FA04-36D4-5226AE2D2C56}"/>
              </a:ext>
            </a:extLst>
          </p:cNvPr>
          <p:cNvSpPr>
            <a:spLocks noGrp="1"/>
          </p:cNvSpPr>
          <p:nvPr>
            <p:ph type="title"/>
          </p:nvPr>
        </p:nvSpPr>
        <p:spPr/>
        <p:txBody>
          <a:bodyPr/>
          <a:lstStyle/>
          <a:p>
            <a:r>
              <a:rPr lang="en-IN" dirty="0">
                <a:latin typeface="Arial" panose="020B0604020202020204" pitchFamily="34" charset="0"/>
                <a:ea typeface="Cascadia Code" panose="020B0609020000020004" pitchFamily="49" charset="0"/>
                <a:cs typeface="Arial" panose="020B0604020202020204" pitchFamily="34" charset="0"/>
              </a:rPr>
              <a:t>Content:</a:t>
            </a:r>
          </a:p>
        </p:txBody>
      </p:sp>
      <p:sp>
        <p:nvSpPr>
          <p:cNvPr id="3" name="Content Placeholder 2">
            <a:extLst>
              <a:ext uri="{FF2B5EF4-FFF2-40B4-BE49-F238E27FC236}">
                <a16:creationId xmlns:a16="http://schemas.microsoft.com/office/drawing/2014/main" id="{A5F23FB0-10D4-77D4-77BD-047CE713ECFF}"/>
              </a:ext>
            </a:extLst>
          </p:cNvPr>
          <p:cNvSpPr>
            <a:spLocks noGrp="1"/>
          </p:cNvSpPr>
          <p:nvPr>
            <p:ph idx="1"/>
          </p:nvPr>
        </p:nvSpPr>
        <p:spPr/>
        <p:txBody>
          <a:bodyPr>
            <a:noAutofit/>
          </a:bodyPr>
          <a:lstStyle/>
          <a:p>
            <a:pPr>
              <a:buFont typeface="Wingdings" panose="05000000000000000000" pitchFamily="2" charset="2"/>
              <a:buChar char="Ø"/>
            </a:pPr>
            <a:r>
              <a:rPr lang="en-IN" sz="1200" dirty="0"/>
              <a:t>Introduction</a:t>
            </a:r>
          </a:p>
          <a:p>
            <a:pPr>
              <a:buFont typeface="Wingdings" panose="05000000000000000000" pitchFamily="2" charset="2"/>
              <a:buChar char="Ø"/>
            </a:pPr>
            <a:r>
              <a:rPr lang="en-IN" sz="1200" dirty="0"/>
              <a:t>Problem Statement</a:t>
            </a:r>
          </a:p>
          <a:p>
            <a:pPr>
              <a:buFont typeface="Wingdings" panose="05000000000000000000" pitchFamily="2" charset="2"/>
              <a:buChar char="Ø"/>
            </a:pPr>
            <a:r>
              <a:rPr lang="en-IN" sz="1200" dirty="0"/>
              <a:t>Problem Understanding</a:t>
            </a:r>
          </a:p>
          <a:p>
            <a:pPr>
              <a:buFont typeface="Wingdings" panose="05000000000000000000" pitchFamily="2" charset="2"/>
              <a:buChar char="Ø"/>
            </a:pPr>
            <a:r>
              <a:rPr lang="en-IN" sz="1200" dirty="0">
                <a:latin typeface="Arial" panose="020B0604020202020204" pitchFamily="34" charset="0"/>
                <a:cs typeface="Arial" panose="020B0604020202020204" pitchFamily="34" charset="0"/>
              </a:rPr>
              <a:t>Analytical Problem</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Exploratory Data Analysis Steps</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Visualizations</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Data Analysis Steps Done</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Assumptions</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Model Building</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Hyper Parameter Tuning and Creating Final Model</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Saving the</a:t>
            </a:r>
          </a:p>
          <a:p>
            <a:pPr>
              <a:buFont typeface="Wingdings" panose="05000000000000000000" pitchFamily="2" charset="2"/>
              <a:buChar char="Ø"/>
            </a:pPr>
            <a:r>
              <a:rPr lang="en-US" sz="1200" dirty="0">
                <a:latin typeface="Century" panose="02040604050505020304" pitchFamily="18" charset="0"/>
                <a:ea typeface="Microsoft Sans Serif" panose="020B0604020202020204" pitchFamily="34" charset="0"/>
                <a:cs typeface="Microsoft Sans Serif" panose="020B0604020202020204" pitchFamily="34" charset="0"/>
              </a:rPr>
              <a:t>Conclusion</a:t>
            </a:r>
          </a:p>
          <a:p>
            <a:pPr>
              <a:buFont typeface="Wingdings" panose="05000000000000000000" pitchFamily="2" charset="2"/>
              <a:buChar char="Ø"/>
            </a:pPr>
            <a:endParaRPr lang="en-IN" sz="1200" dirty="0"/>
          </a:p>
        </p:txBody>
      </p:sp>
    </p:spTree>
    <p:extLst>
      <p:ext uri="{BB962C8B-B14F-4D97-AF65-F5344CB8AC3E}">
        <p14:creationId xmlns:p14="http://schemas.microsoft.com/office/powerpoint/2010/main" val="207478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D0D59-8719-BCB0-2531-36E59DB996D0}"/>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Introduction:</a:t>
            </a:r>
            <a:endParaRPr lang="en-IN" dirty="0"/>
          </a:p>
        </p:txBody>
      </p:sp>
      <p:sp>
        <p:nvSpPr>
          <p:cNvPr id="4" name="TextBox 3">
            <a:extLst>
              <a:ext uri="{FF2B5EF4-FFF2-40B4-BE49-F238E27FC236}">
                <a16:creationId xmlns:a16="http://schemas.microsoft.com/office/drawing/2014/main" id="{9EC020A4-80D4-36A7-72F7-F7BF725BCB51}"/>
              </a:ext>
            </a:extLst>
          </p:cNvPr>
          <p:cNvSpPr txBox="1"/>
          <p:nvPr/>
        </p:nvSpPr>
        <p:spPr>
          <a:xfrm>
            <a:off x="641023" y="1951348"/>
            <a:ext cx="11217896" cy="4233467"/>
          </a:xfrm>
          <a:prstGeom prst="rect">
            <a:avLst/>
          </a:prstGeom>
          <a:noFill/>
        </p:spPr>
        <p:txBody>
          <a:bodyPr wrap="square">
            <a:spAutoFit/>
          </a:bodyPr>
          <a:lstStyle/>
          <a:p>
            <a:pPr marL="285750" indent="-285750" algn="just">
              <a:lnSpc>
                <a:spcPct val="107000"/>
              </a:lnSpc>
              <a:spcAft>
                <a:spcPts val="800"/>
              </a:spcAft>
              <a:buFont typeface="Wingdings" panose="05000000000000000000" pitchFamily="2" charset="2"/>
              <a:buChar char="ü"/>
            </a:pPr>
            <a:r>
              <a:rPr lang="en-IN" dirty="0">
                <a:effectLst/>
                <a:latin typeface="Arial" panose="020B0604020202020204" pitchFamily="34" charset="0"/>
                <a:ea typeface="Calibri" panose="020F0502020204030204" pitchFamily="34" charset="0"/>
                <a:cs typeface="Arial" panose="020B0604020202020204" pitchFamily="34" charset="0"/>
              </a:rPr>
              <a:t>Credit defaulter risk is one of the most important risks to be managed by a financial institution. Without loan repayment there is no profit, hence the problem of credit defaulter risk management is relevant to all financial institutions involved in lending to individuals and legal entries.</a:t>
            </a:r>
          </a:p>
          <a:p>
            <a:pPr marL="285750" indent="-285750" algn="just">
              <a:lnSpc>
                <a:spcPct val="107000"/>
              </a:lnSpc>
              <a:spcAft>
                <a:spcPts val="800"/>
              </a:spcAft>
              <a:buFont typeface="Wingdings" panose="05000000000000000000" pitchFamily="2" charset="2"/>
              <a:buChar char="ü"/>
            </a:pPr>
            <a:r>
              <a:rPr lang="en-IN" dirty="0">
                <a:effectLst/>
                <a:latin typeface="Arial" panose="020B0604020202020204" pitchFamily="34" charset="0"/>
                <a:ea typeface="Calibri" panose="020F0502020204030204" pitchFamily="34" charset="0"/>
                <a:cs typeface="Arial" panose="020B0604020202020204" pitchFamily="34" charset="0"/>
              </a:rPr>
              <a:t>A Microfinance Institution (MFI) is an organization that offers financial services to low-income populations. MFS becomes very useful when targeting especially the unbanked poor families living in remote areas with not much sources of income. The Microfinance services (MFS) provided by MFI are Group Loans, Agricultural Loans, Individual Business Loans and so on. </a:t>
            </a:r>
          </a:p>
          <a:p>
            <a:pPr marL="285750" indent="-285750" algn="just">
              <a:lnSpc>
                <a:spcPct val="107000"/>
              </a:lnSpc>
              <a:spcAft>
                <a:spcPts val="800"/>
              </a:spcAft>
              <a:buFont typeface="Wingdings" panose="05000000000000000000" pitchFamily="2" charset="2"/>
              <a:buChar char="ü"/>
            </a:pPr>
            <a:r>
              <a:rPr lang="en-IN" dirty="0">
                <a:effectLst/>
                <a:latin typeface="Arial" panose="020B0604020202020204" pitchFamily="34" charset="0"/>
                <a:ea typeface="Calibri" panose="020F0502020204030204" pitchFamily="34" charset="0"/>
                <a:cs typeface="Arial" panose="020B0604020202020204" pitchFamily="34" charset="0"/>
              </a:rPr>
              <a:t>Many microfinance institutions (MFI), experts and donors are supporting the idea of using mobile financial services (MFS) which they feel are more convenient and efficient, and cost saving, than the traditional high-touch model used since long for the purpose of delivering microfinance services. Though, the MFI industry is primarily focusing on low-income families and are very useful in such areas, the implementation of MFS has been uneven with both significant challenges and successes.</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6045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6E63E-FA3B-F417-A26E-633C017CFDF7}"/>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Problem Statement:</a:t>
            </a:r>
            <a:endParaRPr lang="en-IN" dirty="0"/>
          </a:p>
        </p:txBody>
      </p:sp>
      <p:sp>
        <p:nvSpPr>
          <p:cNvPr id="4" name="TextBox 3">
            <a:extLst>
              <a:ext uri="{FF2B5EF4-FFF2-40B4-BE49-F238E27FC236}">
                <a16:creationId xmlns:a16="http://schemas.microsoft.com/office/drawing/2014/main" id="{1D923FF8-3D9E-E60C-8644-7597F0D0CF47}"/>
              </a:ext>
            </a:extLst>
          </p:cNvPr>
          <p:cNvSpPr txBox="1"/>
          <p:nvPr/>
        </p:nvSpPr>
        <p:spPr>
          <a:xfrm>
            <a:off x="782425" y="2017336"/>
            <a:ext cx="10510886" cy="2862322"/>
          </a:xfrm>
          <a:prstGeom prst="rect">
            <a:avLst/>
          </a:prstGeom>
          <a:noFill/>
        </p:spPr>
        <p:txBody>
          <a:bodyPr wrap="square">
            <a:spAutoFit/>
          </a:bodyPr>
          <a:lstStyle/>
          <a:p>
            <a:pPr algn="just"/>
            <a:r>
              <a:rPr lang="en-US" sz="18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client in Indonesian Telecom Industry is collaborating with an Microfinance Institution (MFI) to provide micro-credit on mobile balances to be paid back in 5 days. The Consumer is believed to be defaulter if he deviates from the path of paying back the loaned amount within the time duration of 5 days. In order to improve the selection of customers for the credit, the client wants some predictions that could help them in further investment and improvement in selection of customers. </a:t>
            </a:r>
          </a:p>
          <a:p>
            <a:pPr algn="just"/>
            <a:endParaRPr lang="en-IN" dirty="0">
              <a:latin typeface="Arial" panose="020B0604020202020204" pitchFamily="34" charset="0"/>
              <a:ea typeface="Calibri" panose="020F0502020204030204" pitchFamily="34" charset="0"/>
              <a:cs typeface="Arial" panose="020B0604020202020204" pitchFamily="34" charset="0"/>
            </a:endParaRPr>
          </a:p>
          <a:p>
            <a:pPr algn="just"/>
            <a:r>
              <a:rPr lang="en-IN" dirty="0">
                <a:effectLst/>
                <a:latin typeface="Arial" panose="020B0604020202020204" pitchFamily="34" charset="0"/>
                <a:ea typeface="Calibri" panose="020F0502020204030204" pitchFamily="34" charset="0"/>
                <a:cs typeface="Arial" panose="020B0604020202020204" pitchFamily="34" charset="0"/>
              </a:rPr>
              <a:t>        In this project we need to build a model which can be used to predict in terms of a probability for each loan transaction, whether the customer will be paying back the loaned amount within 5 days of insurance of loan. In this case, Label ‘1’ indicates that the loan has been paid i.e., “non-defaulter”, while, Label ‘0’ indicates that the loan has not been paid i.e., “defaulter”.</a:t>
            </a:r>
          </a:p>
        </p:txBody>
      </p:sp>
    </p:spTree>
    <p:extLst>
      <p:ext uri="{BB962C8B-B14F-4D97-AF65-F5344CB8AC3E}">
        <p14:creationId xmlns:p14="http://schemas.microsoft.com/office/powerpoint/2010/main" val="692961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3E47-F124-A65C-A8AF-2C6BDE276697}"/>
              </a:ext>
            </a:extLst>
          </p:cNvPr>
          <p:cNvSpPr>
            <a:spLocks noGrp="1"/>
          </p:cNvSpPr>
          <p:nvPr>
            <p:ph type="title"/>
          </p:nvPr>
        </p:nvSpPr>
        <p:spPr/>
        <p:txBody>
          <a:bodyPr/>
          <a:lstStyle/>
          <a:p>
            <a:r>
              <a:rPr lang="en-IN" dirty="0"/>
              <a:t>Problem Understanding</a:t>
            </a:r>
          </a:p>
        </p:txBody>
      </p:sp>
      <p:sp>
        <p:nvSpPr>
          <p:cNvPr id="4" name="TextBox 3">
            <a:extLst>
              <a:ext uri="{FF2B5EF4-FFF2-40B4-BE49-F238E27FC236}">
                <a16:creationId xmlns:a16="http://schemas.microsoft.com/office/drawing/2014/main" id="{22AD79D7-E921-705A-E1DA-5442A41A0A4E}"/>
              </a:ext>
            </a:extLst>
          </p:cNvPr>
          <p:cNvSpPr txBox="1"/>
          <p:nvPr/>
        </p:nvSpPr>
        <p:spPr>
          <a:xfrm>
            <a:off x="1097280" y="1894787"/>
            <a:ext cx="9907571" cy="4023987"/>
          </a:xfrm>
          <a:prstGeom prst="rect">
            <a:avLst/>
          </a:prstGeom>
          <a:noFill/>
        </p:spPr>
        <p:txBody>
          <a:bodyPr wrap="square">
            <a:spAutoFit/>
          </a:bodyPr>
          <a:lstStyle/>
          <a:p>
            <a:pPr algn="just">
              <a:lnSpc>
                <a:spcPct val="106000"/>
              </a:lnSpc>
              <a:spcAft>
                <a:spcPts val="900"/>
              </a:spcAft>
            </a:pPr>
            <a:r>
              <a:rPr lang="en-IN"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r>
              <a:rPr lang="en-I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loan providing companies find it hard to give loans to the people due to their insufficient or non-existent credit history. Because of that, some consumers use it as their advantage by becoming a defaulter. Suppose you work for a consumer finance company which specialises in lending various types of loans to urban customers. You have to use EDA to analyse the patterns present in the data. This will ensure that the applicants are capable of repaying the loan are not rejected.</a:t>
            </a:r>
            <a:endParaRPr lang="en-IN" dirty="0">
              <a:effectLst/>
              <a:latin typeface="Arial" panose="020B0604020202020204" pitchFamily="34" charset="0"/>
              <a:ea typeface="Calibri" panose="020F0502020204030204" pitchFamily="34" charset="0"/>
              <a:cs typeface="Arial" panose="020B0604020202020204" pitchFamily="34" charset="0"/>
            </a:endParaRPr>
          </a:p>
          <a:p>
            <a:pPr algn="just">
              <a:lnSpc>
                <a:spcPct val="106000"/>
              </a:lnSpc>
              <a:spcAft>
                <a:spcPts val="1200"/>
              </a:spcAft>
            </a:pPr>
            <a:r>
              <a:rPr lang="en-I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When the company receives a loan application, the company has to decide for loan approval based on the applicant’s profile. Two types of risks are associated with the bank’s decision:</a:t>
            </a:r>
            <a:endParaRPr lang="en-IN" dirty="0">
              <a:effectLst/>
              <a:latin typeface="Arial" panose="020B0604020202020204" pitchFamily="34" charset="0"/>
              <a:ea typeface="Calibri" panose="020F0502020204030204" pitchFamily="34" charset="0"/>
              <a:cs typeface="Arial" panose="020B0604020202020204" pitchFamily="34" charset="0"/>
            </a:endParaRPr>
          </a:p>
          <a:p>
            <a:pPr marL="285750" indent="-285750" algn="just">
              <a:lnSpc>
                <a:spcPct val="106000"/>
              </a:lnSpc>
              <a:spcAft>
                <a:spcPts val="1200"/>
              </a:spcAft>
              <a:buFont typeface="Wingdings" panose="05000000000000000000" pitchFamily="2" charset="2"/>
              <a:buChar char="ü"/>
            </a:pPr>
            <a:r>
              <a:rPr lang="en-I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If the applicant is likely to repay the loan, then not approving the loan results in a loss of business to the company</a:t>
            </a:r>
            <a:endParaRPr lang="en-IN" dirty="0">
              <a:latin typeface="Arial" panose="020B0604020202020204" pitchFamily="34" charset="0"/>
              <a:ea typeface="Calibri" panose="020F0502020204030204" pitchFamily="34" charset="0"/>
              <a:cs typeface="Arial" panose="020B0604020202020204" pitchFamily="34" charset="0"/>
            </a:endParaRPr>
          </a:p>
          <a:p>
            <a:pPr marL="285750" indent="-285750" algn="just">
              <a:lnSpc>
                <a:spcPct val="106000"/>
              </a:lnSpc>
              <a:spcAft>
                <a:spcPts val="1200"/>
              </a:spcAft>
              <a:buFont typeface="Wingdings" panose="05000000000000000000" pitchFamily="2" charset="2"/>
              <a:buChar char="ü"/>
            </a:pPr>
            <a:r>
              <a:rPr lang="en-I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If the applicant is not likely to repay the loan, i.e. he/she is likely to default, then approving the loan may lead to a financial loss for the company.</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7722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D721-ECE8-9688-1BDD-C06516CCBBA2}"/>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Analytical Problem:</a:t>
            </a:r>
          </a:p>
        </p:txBody>
      </p:sp>
      <p:sp>
        <p:nvSpPr>
          <p:cNvPr id="3" name="Content Placeholder 2">
            <a:extLst>
              <a:ext uri="{FF2B5EF4-FFF2-40B4-BE49-F238E27FC236}">
                <a16:creationId xmlns:a16="http://schemas.microsoft.com/office/drawing/2014/main" id="{BB41A89E-585B-84F3-58DA-6FC67097382A}"/>
              </a:ext>
            </a:extLst>
          </p:cNvPr>
          <p:cNvSpPr>
            <a:spLocks noGrp="1"/>
          </p:cNvSpPr>
          <p:nvPr>
            <p:ph idx="1"/>
          </p:nvPr>
        </p:nvSpPr>
        <p:spPr/>
        <p:txBody>
          <a:bodyPr/>
          <a:lstStyle/>
          <a:p>
            <a:pPr marL="0" indent="0" algn="just">
              <a:buNone/>
            </a:pPr>
            <a:r>
              <a:rPr lang="en-US" sz="2000" i="0" dirty="0">
                <a:solidFill>
                  <a:srgbClr val="202124"/>
                </a:solidFill>
                <a:effectLst/>
                <a:ea typeface="Gadugi" panose="020B0502040204020203" pitchFamily="34" charset="0"/>
              </a:rPr>
              <a:t>Analytic problem framing </a:t>
            </a:r>
            <a:r>
              <a:rPr lang="en-US" sz="2000" b="0" i="0" dirty="0">
                <a:solidFill>
                  <a:srgbClr val="202124"/>
                </a:solidFill>
                <a:effectLst/>
                <a:ea typeface="Gadugi" panose="020B0502040204020203" pitchFamily="34" charset="0"/>
              </a:rPr>
              <a:t>involves translating the business </a:t>
            </a:r>
            <a:r>
              <a:rPr lang="en-US" sz="2000" i="0" dirty="0">
                <a:solidFill>
                  <a:srgbClr val="202124"/>
                </a:solidFill>
                <a:effectLst/>
                <a:ea typeface="Gadugi" panose="020B0502040204020203" pitchFamily="34" charset="0"/>
              </a:rPr>
              <a:t>problem</a:t>
            </a:r>
            <a:r>
              <a:rPr lang="en-US" sz="2000" b="0" i="0" dirty="0">
                <a:solidFill>
                  <a:srgbClr val="202124"/>
                </a:solidFill>
                <a:effectLst/>
                <a:ea typeface="Gadugi" panose="020B0502040204020203" pitchFamily="34" charset="0"/>
              </a:rPr>
              <a:t> into terms that can be addressed </a:t>
            </a:r>
            <a:r>
              <a:rPr lang="en-US" sz="2000" i="0" dirty="0">
                <a:solidFill>
                  <a:srgbClr val="202124"/>
                </a:solidFill>
                <a:effectLst/>
                <a:ea typeface="Gadugi" panose="020B0502040204020203" pitchFamily="34" charset="0"/>
              </a:rPr>
              <a:t>analytically</a:t>
            </a:r>
            <a:r>
              <a:rPr lang="en-US" sz="2000" b="0" i="0" dirty="0">
                <a:solidFill>
                  <a:srgbClr val="202124"/>
                </a:solidFill>
                <a:effectLst/>
                <a:ea typeface="Gadugi" panose="020B0502040204020203" pitchFamily="34" charset="0"/>
              </a:rPr>
              <a:t> via data and modeling. </a:t>
            </a:r>
            <a:r>
              <a:rPr lang="en-US" sz="2000" i="0" dirty="0">
                <a:solidFill>
                  <a:srgbClr val="202124"/>
                </a:solidFill>
                <a:effectLst/>
                <a:ea typeface="Gadugi" panose="020B0502040204020203" pitchFamily="34" charset="0"/>
              </a:rPr>
              <a:t>Analytic problem framing</a:t>
            </a:r>
            <a:r>
              <a:rPr lang="en-US" sz="2000" b="0" i="0" dirty="0">
                <a:solidFill>
                  <a:srgbClr val="202124"/>
                </a:solidFill>
                <a:effectLst/>
                <a:ea typeface="Gadugi" panose="020B0502040204020203" pitchFamily="34" charset="0"/>
              </a:rPr>
              <a:t> is the antithesis of merely working with the ready-to-hand data and seeing what comes of it, hoping for something insightful.</a:t>
            </a:r>
            <a:endParaRPr lang="en-IN" dirty="0"/>
          </a:p>
        </p:txBody>
      </p:sp>
    </p:spTree>
    <p:extLst>
      <p:ext uri="{BB962C8B-B14F-4D97-AF65-F5344CB8AC3E}">
        <p14:creationId xmlns:p14="http://schemas.microsoft.com/office/powerpoint/2010/main" val="3349398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8D2F-A2E6-80E5-E86D-5822E2BED7C7}"/>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Exploratory data analysis</a:t>
            </a:r>
            <a:endParaRPr lang="en-IN" dirty="0"/>
          </a:p>
        </p:txBody>
      </p:sp>
      <p:sp>
        <p:nvSpPr>
          <p:cNvPr id="4" name="TextBox 3">
            <a:extLst>
              <a:ext uri="{FF2B5EF4-FFF2-40B4-BE49-F238E27FC236}">
                <a16:creationId xmlns:a16="http://schemas.microsoft.com/office/drawing/2014/main" id="{3F653369-CB7A-63C8-61FC-A774A10D5320}"/>
              </a:ext>
            </a:extLst>
          </p:cNvPr>
          <p:cNvSpPr txBox="1"/>
          <p:nvPr/>
        </p:nvSpPr>
        <p:spPr>
          <a:xfrm>
            <a:off x="838986" y="1737360"/>
            <a:ext cx="11010507" cy="4524315"/>
          </a:xfrm>
          <a:prstGeom prst="rect">
            <a:avLst/>
          </a:prstGeom>
          <a:noFill/>
        </p:spPr>
        <p:txBody>
          <a:bodyPr wrap="square">
            <a:spAutoFit/>
          </a:bodyPr>
          <a:lstStyle/>
          <a:p>
            <a:pPr marL="285750" indent="-285750" algn="just">
              <a:buFont typeface="Wingdings" panose="05000000000000000000" pitchFamily="2" charset="2"/>
              <a:buChar char="ü"/>
            </a:pPr>
            <a:r>
              <a:rPr lang="en-US" sz="1600" dirty="0">
                <a:latin typeface="Arial" panose="020B0604020202020204" pitchFamily="34" charset="0"/>
                <a:cs typeface="Arial" panose="020B0604020202020204" pitchFamily="34" charset="0"/>
              </a:rPr>
              <a:t>Importing necessary libraries and importing dataset as a data frame.</a:t>
            </a:r>
          </a:p>
          <a:p>
            <a:pPr marL="285750" indent="-285750" algn="just">
              <a:buFont typeface="Wingdings" panose="05000000000000000000" pitchFamily="2" charset="2"/>
              <a:buChar char="ü"/>
            </a:pPr>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IN" sz="1600" dirty="0">
                <a:effectLst/>
                <a:latin typeface="Arial" panose="020B0604020202020204" pitchFamily="34" charset="0"/>
                <a:ea typeface="Calibri" panose="020F0502020204030204" pitchFamily="34" charset="0"/>
                <a:cs typeface="Arial" panose="020B0604020202020204" pitchFamily="34" charset="0"/>
              </a:rPr>
              <a:t>Checked some statistical information like shape, number of unique values present, info, finding zero values etc.</a:t>
            </a:r>
          </a:p>
          <a:p>
            <a:pPr marL="285750" indent="-285750" algn="just">
              <a:buFont typeface="Wingdings" panose="05000000000000000000" pitchFamily="2" charset="2"/>
              <a:buChar char="ü"/>
            </a:pPr>
            <a:endParaRPr lang="en-IN" sz="1600" dirty="0">
              <a:effectLst/>
              <a:latin typeface="Arial" panose="020B0604020202020204" pitchFamily="34" charset="0"/>
              <a:ea typeface="Calibri" panose="020F0502020204030204" pitchFamily="34" charset="0"/>
              <a:cs typeface="Arial" panose="020B0604020202020204" pitchFamily="34" charset="0"/>
            </a:endParaRPr>
          </a:p>
          <a:p>
            <a:pPr marL="285750" indent="-285750" algn="just">
              <a:buFont typeface="Wingdings" panose="05000000000000000000" pitchFamily="2" charset="2"/>
              <a:buChar char="ü"/>
            </a:pPr>
            <a:r>
              <a:rPr lang="en-IN" sz="1600" dirty="0">
                <a:latin typeface="Arial" panose="020B0604020202020204" pitchFamily="34" charset="0"/>
                <a:cs typeface="Arial" panose="020B0604020202020204" pitchFamily="34" charset="0"/>
              </a:rPr>
              <a:t>Dropped some columns containing more than 90% of zero values assuming they won’t create skewness in later part.</a:t>
            </a:r>
          </a:p>
          <a:p>
            <a:pPr marL="285750" indent="-285750" algn="just">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IN" sz="1600" dirty="0">
                <a:latin typeface="Arial" panose="020B0604020202020204" pitchFamily="34" charset="0"/>
                <a:cs typeface="Arial" panose="020B0604020202020204" pitchFamily="34" charset="0"/>
              </a:rPr>
              <a:t>Dataset was free from null values that is I found no missing values.</a:t>
            </a:r>
          </a:p>
          <a:p>
            <a:pPr marL="285750" indent="-285750" algn="just">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IN" sz="1600" dirty="0">
                <a:latin typeface="Arial" panose="020B0604020202020204" pitchFamily="34" charset="0"/>
                <a:cs typeface="Arial" panose="020B0604020202020204" pitchFamily="34" charset="0"/>
              </a:rPr>
              <a:t>Extracted Day, Month and Year features from </a:t>
            </a:r>
            <a:r>
              <a:rPr lang="en-IN" sz="1600" dirty="0" err="1">
                <a:latin typeface="Arial" panose="020B0604020202020204" pitchFamily="34" charset="0"/>
                <a:cs typeface="Arial" panose="020B0604020202020204" pitchFamily="34" charset="0"/>
              </a:rPr>
              <a:t>pdate</a:t>
            </a:r>
            <a:r>
              <a:rPr lang="en-IN" sz="1600" dirty="0">
                <a:latin typeface="Arial" panose="020B0604020202020204" pitchFamily="34" charset="0"/>
                <a:cs typeface="Arial" panose="020B0604020202020204" pitchFamily="34" charset="0"/>
              </a:rPr>
              <a:t> column.</a:t>
            </a:r>
          </a:p>
          <a:p>
            <a:pPr marL="285750" indent="-285750" algn="just">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IN" sz="1600" dirty="0">
                <a:latin typeface="Arial" panose="020B0604020202020204" pitchFamily="34" charset="0"/>
                <a:cs typeface="Arial" panose="020B0604020202020204" pitchFamily="34" charset="0"/>
              </a:rPr>
              <a:t>Found some negative/invalid values while checking the statistical summary of the dataset so, converted them into positive by using absolute command.</a:t>
            </a:r>
          </a:p>
          <a:p>
            <a:pPr marL="285750" indent="-285750" algn="just">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IN" sz="1600" dirty="0">
                <a:latin typeface="Arial" panose="020B0604020202020204" pitchFamily="34" charset="0"/>
                <a:cs typeface="Arial" panose="020B0604020202020204" pitchFamily="34" charset="0"/>
              </a:rPr>
              <a:t>Visualizing the features using univariate and bivariate analysis. Univariate analysis is the simplest form of analysing the data. “Uni” means “one”, visualizing the data using one variable. Bivariate analysis is another form of analysing the data. “Bi” means “two”, visualizing the data using 2 variables.</a:t>
            </a: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1649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8D2F-A2E6-80E5-E86D-5822E2BED7C7}"/>
              </a:ext>
            </a:extLst>
          </p:cNvPr>
          <p:cNvSpPr>
            <a:spLocks noGrp="1"/>
          </p:cNvSpPr>
          <p:nvPr>
            <p:ph type="title"/>
          </p:nvPr>
        </p:nvSpPr>
        <p:spPr/>
        <p:txBody>
          <a:bodyPr/>
          <a:lstStyle/>
          <a:p>
            <a:r>
              <a:rPr lang="en-IN" dirty="0"/>
              <a:t>Visualizations: Univariate Analysis</a:t>
            </a:r>
          </a:p>
        </p:txBody>
      </p:sp>
      <p:sp>
        <p:nvSpPr>
          <p:cNvPr id="4" name="TextBox 3">
            <a:extLst>
              <a:ext uri="{FF2B5EF4-FFF2-40B4-BE49-F238E27FC236}">
                <a16:creationId xmlns:a16="http://schemas.microsoft.com/office/drawing/2014/main" id="{110110A3-E77F-86FE-66A0-B7E0FC90CB22}"/>
              </a:ext>
            </a:extLst>
          </p:cNvPr>
          <p:cNvSpPr txBox="1"/>
          <p:nvPr/>
        </p:nvSpPr>
        <p:spPr>
          <a:xfrm>
            <a:off x="1118254" y="1915979"/>
            <a:ext cx="9754385" cy="677108"/>
          </a:xfrm>
          <a:prstGeom prst="rect">
            <a:avLst/>
          </a:prstGeom>
          <a:noFill/>
        </p:spPr>
        <p:txBody>
          <a:bodyPr wrap="square">
            <a:spAutoFit/>
          </a:bodyPr>
          <a:lstStyle/>
          <a:p>
            <a:pPr algn="just"/>
            <a:r>
              <a:rPr lang="en-US" sz="1800" b="1" dirty="0">
                <a:latin typeface="Arial" panose="020B0604020202020204" pitchFamily="34" charset="0"/>
                <a:cs typeface="Arial" panose="020B0604020202020204" pitchFamily="34" charset="0"/>
              </a:rPr>
              <a:t>Target Variable</a:t>
            </a:r>
            <a:r>
              <a:rPr lang="en-US" sz="2000"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Visualizing label whether the user paid back the credit amount within 5 days of issuing the loan or not {1:success, 0:failure}</a:t>
            </a:r>
            <a:endParaRPr lang="en-IN"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08BA628-95E6-BECE-0020-50FAB761B70C}"/>
              </a:ext>
            </a:extLst>
          </p:cNvPr>
          <p:cNvPicPr>
            <a:picLocks noChangeAspect="1"/>
          </p:cNvPicPr>
          <p:nvPr/>
        </p:nvPicPr>
        <p:blipFill>
          <a:blip r:embed="rId2"/>
          <a:stretch>
            <a:fillRect/>
          </a:stretch>
        </p:blipFill>
        <p:spPr>
          <a:xfrm>
            <a:off x="2158738" y="2502924"/>
            <a:ext cx="7262152" cy="3091197"/>
          </a:xfrm>
          <a:prstGeom prst="rect">
            <a:avLst/>
          </a:prstGeom>
        </p:spPr>
      </p:pic>
      <p:sp>
        <p:nvSpPr>
          <p:cNvPr id="8" name="TextBox 7">
            <a:extLst>
              <a:ext uri="{FF2B5EF4-FFF2-40B4-BE49-F238E27FC236}">
                <a16:creationId xmlns:a16="http://schemas.microsoft.com/office/drawing/2014/main" id="{BDCE5869-472D-D9FA-D2A5-88362396112A}"/>
              </a:ext>
            </a:extLst>
          </p:cNvPr>
          <p:cNvSpPr txBox="1"/>
          <p:nvPr/>
        </p:nvSpPr>
        <p:spPr>
          <a:xfrm>
            <a:off x="622169" y="5404536"/>
            <a:ext cx="10746557" cy="830997"/>
          </a:xfrm>
          <a:prstGeom prst="rect">
            <a:avLst/>
          </a:prstGeom>
          <a:noFill/>
        </p:spPr>
        <p:txBody>
          <a:bodyPr wrap="square">
            <a:spAutoFit/>
          </a:bodyPr>
          <a:lstStyle/>
          <a:p>
            <a:pPr algn="just"/>
            <a:r>
              <a:rPr lang="en-US" sz="1600" b="0" i="0" dirty="0">
                <a:effectLst/>
                <a:latin typeface="Arial" panose="020B0604020202020204" pitchFamily="34" charset="0"/>
                <a:cs typeface="Arial" panose="020B0604020202020204" pitchFamily="34" charset="0"/>
              </a:rPr>
              <a:t>From the above plots we can observe around 87% of the loan has been paid by the user and only 12% of the loan failed to pay. Also the dataset is highly imbalanced, so we need to work on that or else our model will be more biased towards success and make false interpretation.</a:t>
            </a:r>
          </a:p>
        </p:txBody>
      </p:sp>
    </p:spTree>
    <p:extLst>
      <p:ext uri="{BB962C8B-B14F-4D97-AF65-F5344CB8AC3E}">
        <p14:creationId xmlns:p14="http://schemas.microsoft.com/office/powerpoint/2010/main" val="3619691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A48E3A6-7A4A-B0B3-D4BB-9E1451804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535" y="443060"/>
            <a:ext cx="10642860" cy="5792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460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8D2F-A2E6-80E5-E86D-5822E2BED7C7}"/>
              </a:ext>
            </a:extLst>
          </p:cNvPr>
          <p:cNvSpPr>
            <a:spLocks noGrp="1"/>
          </p:cNvSpPr>
          <p:nvPr>
            <p:ph type="title"/>
          </p:nvPr>
        </p:nvSpPr>
        <p:spPr/>
        <p:txBody>
          <a:bodyPr>
            <a:normAutofit/>
          </a:bodyPr>
          <a:lstStyle/>
          <a:p>
            <a:r>
              <a:rPr lang="en-IN" sz="3600" dirty="0"/>
              <a:t>Visualizations: Univariate Analysis</a:t>
            </a:r>
          </a:p>
        </p:txBody>
      </p:sp>
      <p:sp>
        <p:nvSpPr>
          <p:cNvPr id="4" name="TextBox 3">
            <a:extLst>
              <a:ext uri="{FF2B5EF4-FFF2-40B4-BE49-F238E27FC236}">
                <a16:creationId xmlns:a16="http://schemas.microsoft.com/office/drawing/2014/main" id="{2A29F3B1-9E1C-4386-98CA-DBC176803E59}"/>
              </a:ext>
            </a:extLst>
          </p:cNvPr>
          <p:cNvSpPr txBox="1"/>
          <p:nvPr/>
        </p:nvSpPr>
        <p:spPr>
          <a:xfrm>
            <a:off x="1322109" y="2056019"/>
            <a:ext cx="9754385" cy="2471895"/>
          </a:xfrm>
          <a:prstGeom prst="rect">
            <a:avLst/>
          </a:prstGeom>
          <a:noFill/>
        </p:spPr>
        <p:txBody>
          <a:bodyPr wrap="square">
            <a:spAutoFit/>
          </a:bodyPr>
          <a:lstStyle/>
          <a:p>
            <a:pPr lvl="0" algn="just">
              <a:lnSpc>
                <a:spcPct val="107000"/>
              </a:lnSpc>
            </a:pPr>
            <a:r>
              <a:rPr lang="en-IN" sz="20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Observations:</a:t>
            </a:r>
          </a:p>
          <a:p>
            <a:pPr lvl="0" algn="just">
              <a:lnSpc>
                <a:spcPct val="107000"/>
              </a:lnSpc>
            </a:pPr>
            <a:endParaRPr lang="en-IN"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gn="just">
              <a:lnSpc>
                <a:spcPct val="107000"/>
              </a:lnSpc>
              <a:buFont typeface="Wingdings" panose="05000000000000000000" pitchFamily="2" charset="2"/>
              <a:buChar char=""/>
            </a:pPr>
            <a:r>
              <a:rPr lang="en-I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From the distribution plot, I can observe most of the columns are not normally distributed only Day column somewhat distributed normally.</a:t>
            </a:r>
          </a:p>
          <a:p>
            <a:pPr lvl="0" algn="just">
              <a:lnSpc>
                <a:spcPct val="107000"/>
              </a:lnSpc>
            </a:pPr>
            <a:endParaRPr lang="en-IN"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Wingdings" panose="05000000000000000000" pitchFamily="2" charset="2"/>
              <a:buChar char=""/>
            </a:pPr>
            <a:r>
              <a:rPr lang="en-I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the columns have skewness and are skewed to right since the mean is greater than the median in these columns. We need to remove this skewness before building our machine learning models.</a:t>
            </a:r>
            <a:endParaRPr lang="en-IN"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76714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98D2F-A2E6-80E5-E86D-5822E2BED7C7}"/>
              </a:ext>
            </a:extLst>
          </p:cNvPr>
          <p:cNvSpPr>
            <a:spLocks noGrp="1"/>
          </p:cNvSpPr>
          <p:nvPr>
            <p:ph type="title"/>
          </p:nvPr>
        </p:nvSpPr>
        <p:spPr/>
        <p:txBody>
          <a:bodyPr/>
          <a:lstStyle/>
          <a:p>
            <a:r>
              <a:rPr lang="en-IN" dirty="0"/>
              <a:t>Visualizations: Bivariate Analysis</a:t>
            </a:r>
          </a:p>
        </p:txBody>
      </p:sp>
      <p:pic>
        <p:nvPicPr>
          <p:cNvPr id="2050" name="Picture 2">
            <a:extLst>
              <a:ext uri="{FF2B5EF4-FFF2-40B4-BE49-F238E27FC236}">
                <a16:creationId xmlns:a16="http://schemas.microsoft.com/office/drawing/2014/main" id="{D4B3C304-E5A1-B0F0-8811-B9FB50786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024" y="1737360"/>
            <a:ext cx="3346886" cy="25215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74D6485-5419-2938-ADBE-E8FF5A95AD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4166" y="1737360"/>
            <a:ext cx="6303580" cy="242928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ABD9522-9DB7-01C8-D246-5D456219F75C}"/>
              </a:ext>
            </a:extLst>
          </p:cNvPr>
          <p:cNvSpPr txBox="1"/>
          <p:nvPr/>
        </p:nvSpPr>
        <p:spPr>
          <a:xfrm>
            <a:off x="756502" y="4258883"/>
            <a:ext cx="3108488" cy="1815882"/>
          </a:xfrm>
          <a:prstGeom prst="rect">
            <a:avLst/>
          </a:prstGeom>
          <a:noFill/>
        </p:spPr>
        <p:txBody>
          <a:bodyPr wrap="square">
            <a:spAutoFit/>
          </a:bodyPr>
          <a:lstStyle/>
          <a:p>
            <a:pPr marL="342900" indent="-342900" algn="just">
              <a:buFont typeface="Wingdings" panose="05000000000000000000" pitchFamily="2" charset="2"/>
              <a:buChar char="ü"/>
            </a:pPr>
            <a:r>
              <a:rPr lang="en-US" sz="1600" b="0" i="0" dirty="0">
                <a:effectLst/>
                <a:latin typeface="Arial" panose="020B0604020202020204" pitchFamily="34" charset="0"/>
                <a:cs typeface="Arial" panose="020B0604020202020204" pitchFamily="34" charset="0"/>
              </a:rPr>
              <a:t>From the above bar plot we can observe that the defaulter rate is higher where the user age on cellular network in days is high which has around 8871 counts (in days).</a:t>
            </a:r>
          </a:p>
        </p:txBody>
      </p:sp>
      <p:sp>
        <p:nvSpPr>
          <p:cNvPr id="6" name="TextBox 5">
            <a:extLst>
              <a:ext uri="{FF2B5EF4-FFF2-40B4-BE49-F238E27FC236}">
                <a16:creationId xmlns:a16="http://schemas.microsoft.com/office/drawing/2014/main" id="{FAEA5E91-03A6-2D85-67E7-931EF7ED68B9}"/>
              </a:ext>
            </a:extLst>
          </p:cNvPr>
          <p:cNvSpPr txBox="1"/>
          <p:nvPr/>
        </p:nvSpPr>
        <p:spPr>
          <a:xfrm>
            <a:off x="4346066" y="3937030"/>
            <a:ext cx="3249890" cy="2308324"/>
          </a:xfrm>
          <a:prstGeom prst="rect">
            <a:avLst/>
          </a:prstGeom>
          <a:noFill/>
        </p:spPr>
        <p:txBody>
          <a:bodyPr wrap="square">
            <a:spAutoFit/>
          </a:bodyPr>
          <a:lstStyle/>
          <a:p>
            <a:pPr marL="342900" indent="-342900" algn="just">
              <a:buFont typeface="Wingdings" panose="05000000000000000000" pitchFamily="2" charset="2"/>
              <a:buChar char="ü"/>
            </a:pPr>
            <a:r>
              <a:rPr lang="en-US" sz="1600" b="0" i="0" dirty="0">
                <a:effectLst/>
                <a:latin typeface="Arial" panose="020B0604020202020204" pitchFamily="34" charset="0"/>
                <a:cs typeface="Arial" panose="020B0604020202020204" pitchFamily="34" charset="0"/>
              </a:rPr>
              <a:t>Most of the users who have paid back the credit amount within 5 days of issuing loan, they have high rate of daily amount spent from the account over last 30 days and 90 days which have the count around 5940 and 6732 respectively.</a:t>
            </a:r>
          </a:p>
        </p:txBody>
      </p:sp>
      <p:sp>
        <p:nvSpPr>
          <p:cNvPr id="8" name="TextBox 7">
            <a:extLst>
              <a:ext uri="{FF2B5EF4-FFF2-40B4-BE49-F238E27FC236}">
                <a16:creationId xmlns:a16="http://schemas.microsoft.com/office/drawing/2014/main" id="{B13A6EF4-860C-2805-F0D6-7F9D3293D3C2}"/>
              </a:ext>
            </a:extLst>
          </p:cNvPr>
          <p:cNvSpPr txBox="1"/>
          <p:nvPr/>
        </p:nvSpPr>
        <p:spPr>
          <a:xfrm>
            <a:off x="7595956" y="4166647"/>
            <a:ext cx="3312046" cy="2062103"/>
          </a:xfrm>
          <a:prstGeom prst="rect">
            <a:avLst/>
          </a:prstGeom>
          <a:noFill/>
        </p:spPr>
        <p:txBody>
          <a:bodyPr wrap="square">
            <a:spAutoFit/>
          </a:bodyPr>
          <a:lstStyle/>
          <a:p>
            <a:pPr marL="342900" indent="-342900" algn="just">
              <a:buFont typeface="Wingdings" panose="05000000000000000000" pitchFamily="2" charset="2"/>
              <a:buChar char="ü"/>
            </a:pPr>
            <a:r>
              <a:rPr lang="en-US" sz="1600" b="0" i="0" dirty="0">
                <a:effectLst/>
                <a:latin typeface="Arial" panose="020B0604020202020204" pitchFamily="34" charset="0"/>
                <a:cs typeface="Arial" panose="020B0604020202020204" pitchFamily="34" charset="0"/>
              </a:rPr>
              <a:t>The users who have spent daily amount from main account over last 30 days and 90 days have always paid back the loan amount within 5 days. Around 0.6% of the users failed to pay back the loan within due date.</a:t>
            </a:r>
          </a:p>
        </p:txBody>
      </p:sp>
    </p:spTree>
    <p:extLst>
      <p:ext uri="{BB962C8B-B14F-4D97-AF65-F5344CB8AC3E}">
        <p14:creationId xmlns:p14="http://schemas.microsoft.com/office/powerpoint/2010/main" val="187673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73754FE-25B6-BC61-26EC-0A5F6D91E45A}"/>
              </a:ext>
            </a:extLst>
          </p:cNvPr>
          <p:cNvSpPr txBox="1"/>
          <p:nvPr/>
        </p:nvSpPr>
        <p:spPr>
          <a:xfrm>
            <a:off x="388856" y="504954"/>
            <a:ext cx="6094428" cy="2308324"/>
          </a:xfrm>
          <a:prstGeom prst="rect">
            <a:avLst/>
          </a:prstGeom>
          <a:noFill/>
        </p:spPr>
        <p:txBody>
          <a:bodyPr wrap="square">
            <a:spAutoFit/>
          </a:bodyPr>
          <a:lstStyle/>
          <a:p>
            <a:pPr marL="342900" indent="-342900" algn="just">
              <a:buFont typeface="Wingdings" panose="05000000000000000000" pitchFamily="2" charset="2"/>
              <a:buChar char="ü"/>
            </a:pPr>
            <a:r>
              <a:rPr lang="en-US" b="0" i="0" dirty="0">
                <a:effectLst/>
                <a:latin typeface="Arial" panose="020B0604020202020204" pitchFamily="34" charset="0"/>
                <a:cs typeface="Arial" panose="020B0604020202020204" pitchFamily="34" charset="0"/>
              </a:rPr>
              <a:t>Non defaulter users have average main account balance over last 30 days and 90 days which have count around 2790 &amp; 3640 compared to defaulter.</a:t>
            </a:r>
          </a:p>
          <a:p>
            <a:pPr marL="342900" indent="-342900" algn="just">
              <a:buFont typeface="Wingdings" panose="05000000000000000000" pitchFamily="2" charset="2"/>
              <a:buChar char="ü"/>
            </a:pPr>
            <a:r>
              <a:rPr lang="en-US" b="0" i="0" dirty="0">
                <a:effectLst/>
                <a:latin typeface="Arial" panose="020B0604020202020204" pitchFamily="34" charset="0"/>
                <a:cs typeface="Arial" panose="020B0604020202020204" pitchFamily="34" charset="0"/>
              </a:rPr>
              <a:t>That means the users who have average main account balance always pays back the credit amounts within 5 days. And around 1% of the users either failed to payback the loan amount within the due date or they are not paying the loan.</a:t>
            </a:r>
          </a:p>
        </p:txBody>
      </p:sp>
      <p:sp>
        <p:nvSpPr>
          <p:cNvPr id="6" name="TextBox 5">
            <a:extLst>
              <a:ext uri="{FF2B5EF4-FFF2-40B4-BE49-F238E27FC236}">
                <a16:creationId xmlns:a16="http://schemas.microsoft.com/office/drawing/2014/main" id="{8B158656-8B92-181C-1F03-1B33FA5DF4D5}"/>
              </a:ext>
            </a:extLst>
          </p:cNvPr>
          <p:cNvSpPr txBox="1"/>
          <p:nvPr/>
        </p:nvSpPr>
        <p:spPr>
          <a:xfrm>
            <a:off x="388856" y="3137936"/>
            <a:ext cx="6094428" cy="2585323"/>
          </a:xfrm>
          <a:prstGeom prst="rect">
            <a:avLst/>
          </a:prstGeom>
          <a:noFill/>
        </p:spPr>
        <p:txBody>
          <a:bodyPr wrap="square">
            <a:spAutoFit/>
          </a:bodyPr>
          <a:lstStyle/>
          <a:p>
            <a:pPr marL="342900" indent="-342900" algn="just">
              <a:buFont typeface="Wingdings" panose="05000000000000000000" pitchFamily="2" charset="2"/>
              <a:buChar char="v"/>
            </a:pPr>
            <a:r>
              <a:rPr lang="en-US" b="0" i="0" dirty="0">
                <a:effectLst/>
                <a:latin typeface="Century" panose="02040604050505020304" pitchFamily="18" charset="0"/>
              </a:rPr>
              <a:t>The users who have recharged their main account on time are most likely to pay back their loan amount within 5 days. Also some of the users who have not paid back their loan within 5 days they also recharged their main account on time.</a:t>
            </a:r>
          </a:p>
          <a:p>
            <a:pPr marL="342900" indent="-342900" algn="just">
              <a:buFont typeface="Wingdings" panose="05000000000000000000" pitchFamily="2" charset="2"/>
              <a:buChar char="v"/>
            </a:pPr>
            <a:r>
              <a:rPr lang="en-US" b="0" i="0" dirty="0">
                <a:effectLst/>
                <a:latin typeface="Century" panose="02040604050505020304" pitchFamily="18" charset="0"/>
              </a:rPr>
              <a:t>Looking at above plot of last_rech_amt_ma, we can say that if the amount of last recharge of main account is around 2000 then a greater number of people will pay back the loan amount.</a:t>
            </a:r>
          </a:p>
        </p:txBody>
      </p:sp>
      <p:pic>
        <p:nvPicPr>
          <p:cNvPr id="3074" name="Picture 2">
            <a:extLst>
              <a:ext uri="{FF2B5EF4-FFF2-40B4-BE49-F238E27FC236}">
                <a16:creationId xmlns:a16="http://schemas.microsoft.com/office/drawing/2014/main" id="{A28ED42E-D09E-103E-4741-6C30D1A41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9973" y="349888"/>
            <a:ext cx="5812027" cy="215764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BE3BE1F2-E8FA-3B18-0D1A-FF80BBAB4C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3284" y="2844684"/>
            <a:ext cx="5718631" cy="2120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32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AF7327B5-C1AE-7ACF-063B-85774F055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293" y="3072525"/>
            <a:ext cx="8572500" cy="31718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3E7BDCB-10F7-A8FD-73AF-882FFE3F7306}"/>
              </a:ext>
            </a:extLst>
          </p:cNvPr>
          <p:cNvSpPr txBox="1"/>
          <p:nvPr/>
        </p:nvSpPr>
        <p:spPr>
          <a:xfrm>
            <a:off x="992564" y="830553"/>
            <a:ext cx="10206872" cy="2062103"/>
          </a:xfrm>
          <a:prstGeom prst="rect">
            <a:avLst/>
          </a:prstGeom>
          <a:noFill/>
        </p:spPr>
        <p:txBody>
          <a:bodyPr wrap="square">
            <a:spAutoFit/>
          </a:bodyPr>
          <a:lstStyle/>
          <a:p>
            <a:pPr marL="342900" indent="-342900" algn="just">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The non defaulters got recharged their main account more than 4 times in last 30 days and defaulters used to recharge their main account 1 time.</a:t>
            </a:r>
          </a:p>
          <a:p>
            <a:pPr marL="342900" indent="-342900" algn="just">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The users who have paid back their loan within 5 days have got recharged their main account up to 7 times in last 90 days and the users who have not been paid loan within due date, they have got recharged their main account twice in last 90 days.</a:t>
            </a:r>
          </a:p>
          <a:p>
            <a:pPr marL="342900" indent="-342900" algn="just">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From both the plots we can say that the users who got recharged their main account maximum times, they are able to pay back their loan amount within 5 days compared to the users who got their main account recharged less than 2 times.</a:t>
            </a:r>
          </a:p>
        </p:txBody>
      </p:sp>
    </p:spTree>
    <p:extLst>
      <p:ext uri="{BB962C8B-B14F-4D97-AF65-F5344CB8AC3E}">
        <p14:creationId xmlns:p14="http://schemas.microsoft.com/office/powerpoint/2010/main" val="865973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930B50AD-76D0-DED2-C51F-63000079B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873" y="3200548"/>
            <a:ext cx="8553450" cy="31718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3FBA828-6EA8-52BC-B15D-E218A873A7BA}"/>
              </a:ext>
            </a:extLst>
          </p:cNvPr>
          <p:cNvSpPr txBox="1"/>
          <p:nvPr/>
        </p:nvSpPr>
        <p:spPr>
          <a:xfrm>
            <a:off x="907329" y="485627"/>
            <a:ext cx="9606797" cy="2062103"/>
          </a:xfrm>
          <a:prstGeom prst="rect">
            <a:avLst/>
          </a:prstGeom>
          <a:noFill/>
        </p:spPr>
        <p:txBody>
          <a:bodyPr wrap="square">
            <a:spAutoFit/>
          </a:bodyPr>
          <a:lstStyle/>
          <a:p>
            <a:pPr marL="342900" indent="-342900" algn="just">
              <a:buFont typeface="Courier New" panose="02070309020205020404" pitchFamily="49" charset="0"/>
              <a:buChar char="o"/>
            </a:pPr>
            <a:r>
              <a:rPr lang="en-US" sz="1600" b="0" i="0" dirty="0">
                <a:effectLst/>
                <a:latin typeface="Arial" panose="020B0604020202020204" pitchFamily="34" charset="0"/>
                <a:cs typeface="Arial" panose="020B0604020202020204" pitchFamily="34" charset="0"/>
              </a:rPr>
              <a:t>The count of defaulters and non-defaulters is almost similar for the frequency of main account recharged in last 30 days. They didn't pay back the loan within 5 days. Which means there it is not contributing more for prediction.</a:t>
            </a:r>
          </a:p>
          <a:p>
            <a:pPr marL="342900" indent="-342900" algn="just">
              <a:buFont typeface="Courier New" panose="02070309020205020404" pitchFamily="49" charset="0"/>
              <a:buChar char="o"/>
            </a:pPr>
            <a:r>
              <a:rPr lang="en-US" sz="1600" b="0" i="0" dirty="0">
                <a:effectLst/>
                <a:latin typeface="Arial" panose="020B0604020202020204" pitchFamily="34" charset="0"/>
                <a:cs typeface="Arial" panose="020B0604020202020204" pitchFamily="34" charset="0"/>
              </a:rPr>
              <a:t>The frequency of main account recharged in last 90 days is increased for non-defaulters compared to defaulters.</a:t>
            </a:r>
          </a:p>
          <a:p>
            <a:pPr marL="342900" indent="-342900" algn="just">
              <a:buFont typeface="Courier New" panose="02070309020205020404" pitchFamily="49" charset="0"/>
              <a:buChar char="o"/>
            </a:pPr>
            <a:r>
              <a:rPr lang="en-US" sz="1600" b="0" i="0" dirty="0">
                <a:effectLst/>
                <a:latin typeface="Arial" panose="020B0604020202020204" pitchFamily="34" charset="0"/>
                <a:cs typeface="Arial" panose="020B0604020202020204" pitchFamily="34" charset="0"/>
              </a:rPr>
              <a:t>From the frequency of main account recharged in last 30 days &amp; 90 days we have seen the users with low frequency are causing huge losses, company should implement some kind of strategies to reduce that like send SMS alerts for notification.</a:t>
            </a:r>
          </a:p>
        </p:txBody>
      </p:sp>
    </p:spTree>
    <p:extLst>
      <p:ext uri="{BB962C8B-B14F-4D97-AF65-F5344CB8AC3E}">
        <p14:creationId xmlns:p14="http://schemas.microsoft.com/office/powerpoint/2010/main" val="2207646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877471-36FF-D1CC-5FDF-9ABAFB1880D2}"/>
              </a:ext>
            </a:extLst>
          </p:cNvPr>
          <p:cNvSpPr txBox="1"/>
          <p:nvPr/>
        </p:nvSpPr>
        <p:spPr>
          <a:xfrm>
            <a:off x="162613" y="2687633"/>
            <a:ext cx="5380348" cy="3293209"/>
          </a:xfrm>
          <a:prstGeom prst="rect">
            <a:avLst/>
          </a:prstGeom>
          <a:noFill/>
        </p:spPr>
        <p:txBody>
          <a:bodyPr wrap="square">
            <a:spAutoFit/>
          </a:bodyPr>
          <a:lstStyle/>
          <a:p>
            <a:pPr marL="342900" indent="-342900" algn="just">
              <a:buFont typeface="Wingdings" panose="05000000000000000000" pitchFamily="2" charset="2"/>
              <a:buChar char="Ø"/>
            </a:pPr>
            <a:r>
              <a:rPr lang="en-US" sz="1600" b="0" i="0" dirty="0">
                <a:effectLst/>
                <a:latin typeface="Arial" panose="020B0604020202020204" pitchFamily="34" charset="0"/>
                <a:cs typeface="Arial" panose="020B0604020202020204" pitchFamily="34" charset="0"/>
              </a:rPr>
              <a:t>The users who failed to pay back the loan within 5 days have less amount of recharge in their main account over last 30 days which is around 2000-2400 (in Indonesian Rupiah). And the users who paid back their loan within 5 days, they are recharging their main account more than 8000 (in Indonesian Rupiah) in last 30 days.</a:t>
            </a:r>
          </a:p>
          <a:p>
            <a:pPr marL="342900" indent="-342900" algn="just">
              <a:buFont typeface="Wingdings" panose="05000000000000000000" pitchFamily="2" charset="2"/>
              <a:buChar char="Ø"/>
            </a:pPr>
            <a:r>
              <a:rPr lang="en-US" sz="1600" b="0" i="0" dirty="0">
                <a:effectLst/>
                <a:latin typeface="Arial" panose="020B0604020202020204" pitchFamily="34" charset="0"/>
                <a:cs typeface="Arial" panose="020B0604020202020204" pitchFamily="34" charset="0"/>
              </a:rPr>
              <a:t>The users who have paid their loan amount within 5 days have the total amount of recharge in their main account around 13700 (Indonesian Rupiah) in last 90 days while the defaulters have their total amount of recharge around 3200 (Indonesian Rupiah) over last 90 days.</a:t>
            </a:r>
          </a:p>
        </p:txBody>
      </p:sp>
      <p:sp>
        <p:nvSpPr>
          <p:cNvPr id="6" name="TextBox 5">
            <a:extLst>
              <a:ext uri="{FF2B5EF4-FFF2-40B4-BE49-F238E27FC236}">
                <a16:creationId xmlns:a16="http://schemas.microsoft.com/office/drawing/2014/main" id="{36149A0A-B777-E3AF-DA84-6DD5827CE9B8}"/>
              </a:ext>
            </a:extLst>
          </p:cNvPr>
          <p:cNvSpPr txBox="1"/>
          <p:nvPr/>
        </p:nvSpPr>
        <p:spPr>
          <a:xfrm>
            <a:off x="5976594" y="2687633"/>
            <a:ext cx="5948313" cy="2800767"/>
          </a:xfrm>
          <a:prstGeom prst="rect">
            <a:avLst/>
          </a:prstGeom>
          <a:noFill/>
        </p:spPr>
        <p:txBody>
          <a:bodyPr wrap="square">
            <a:spAutoFit/>
          </a:bodyPr>
          <a:lstStyle/>
          <a:p>
            <a:pPr marL="342900" indent="-342900" algn="just">
              <a:buFont typeface="Wingdings" panose="05000000000000000000" pitchFamily="2" charset="2"/>
              <a:buChar char="ü"/>
            </a:pPr>
            <a:r>
              <a:rPr lang="en-US" sz="1600" b="0" i="0" dirty="0">
                <a:effectLst/>
                <a:latin typeface="Arial" panose="020B0604020202020204" pitchFamily="34" charset="0"/>
                <a:cs typeface="Arial" panose="020B0604020202020204" pitchFamily="34" charset="0"/>
              </a:rPr>
              <a:t>The users who have done their median amount of recharge of 1920 (Indonesian Rupiah) in main account over last 30 days have successfully paid their credit amount within 5 days of issuing loan while the users who have done amount recharge of 1036 have failed to pay back the loan within due date.</a:t>
            </a:r>
          </a:p>
          <a:p>
            <a:pPr marL="342900" indent="-342900" algn="just">
              <a:buFont typeface="Wingdings" panose="05000000000000000000" pitchFamily="2" charset="2"/>
              <a:buChar char="ü"/>
            </a:pPr>
            <a:r>
              <a:rPr lang="en-US" sz="1600" b="0" i="0" dirty="0">
                <a:effectLst/>
                <a:latin typeface="Arial" panose="020B0604020202020204" pitchFamily="34" charset="0"/>
                <a:cs typeface="Arial" panose="020B0604020202020204" pitchFamily="34" charset="0"/>
              </a:rPr>
              <a:t>Similar to 30 days data, here also the users who have done their median amount recharge of 1950 in their main account over last 90 days they have paid back their credit amount within 5 days while the users having their median amount 1198 have not paid the loan within 5 days.</a:t>
            </a:r>
          </a:p>
        </p:txBody>
      </p:sp>
      <p:pic>
        <p:nvPicPr>
          <p:cNvPr id="6148" name="Picture 4">
            <a:extLst>
              <a:ext uri="{FF2B5EF4-FFF2-40B4-BE49-F238E27FC236}">
                <a16:creationId xmlns:a16="http://schemas.microsoft.com/office/drawing/2014/main" id="{AC20E556-81A4-CF13-F699-03C2A3E84F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708" y="235671"/>
            <a:ext cx="5439997" cy="206447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DF3A0F85-9A1F-3352-1CD1-821838200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2015" y="114300"/>
            <a:ext cx="6052892" cy="2304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18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AD5A69E4-4C8D-3D01-35D2-6544BC949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571" y="254524"/>
            <a:ext cx="5293605" cy="22247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5A977F52-A9CB-614A-4713-3D1AFAD79E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571" y="3582186"/>
            <a:ext cx="5293605" cy="20079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3DE3E15-EFE6-9DF7-E5CC-91AC57D0A6BA}"/>
              </a:ext>
            </a:extLst>
          </p:cNvPr>
          <p:cNvSpPr txBox="1"/>
          <p:nvPr/>
        </p:nvSpPr>
        <p:spPr>
          <a:xfrm>
            <a:off x="5491176" y="321505"/>
            <a:ext cx="6094428" cy="2800767"/>
          </a:xfrm>
          <a:prstGeom prst="rect">
            <a:avLst/>
          </a:prstGeom>
          <a:noFill/>
        </p:spPr>
        <p:txBody>
          <a:bodyPr wrap="square">
            <a:spAutoFit/>
          </a:bodyPr>
          <a:lstStyle/>
          <a:p>
            <a:pPr marL="285750" indent="-285750" algn="just">
              <a:buFont typeface="Wingdings" panose="05000000000000000000" pitchFamily="2" charset="2"/>
              <a:buChar char="v"/>
            </a:pPr>
            <a:r>
              <a:rPr lang="en-US" sz="1600" b="0" i="0" dirty="0">
                <a:effectLst/>
                <a:latin typeface="Arial" panose="020B0604020202020204" pitchFamily="34" charset="0"/>
                <a:cs typeface="Arial" panose="020B0604020202020204" pitchFamily="34" charset="0"/>
              </a:rPr>
              <a:t>In 30 days data, the median of main account balance for defaulters are around 4500 (Indonesian Rupiah) which is high compared to non-defaulters. Which means increasing median of main account balance just before recharge in last 30 days at user level, increasing the probability to being defaulter.</a:t>
            </a:r>
          </a:p>
          <a:p>
            <a:pPr marL="285750" indent="-285750" algn="just">
              <a:buFont typeface="Wingdings" panose="05000000000000000000" pitchFamily="2" charset="2"/>
              <a:buChar char="v"/>
            </a:pPr>
            <a:r>
              <a:rPr lang="en-US" sz="1600" b="0" i="0" dirty="0">
                <a:effectLst/>
                <a:latin typeface="Arial" panose="020B0604020202020204" pitchFamily="34" charset="0"/>
                <a:cs typeface="Arial" panose="020B0604020202020204" pitchFamily="34" charset="0"/>
              </a:rPr>
              <a:t>In last 90 days data, the median of main account balance for non-defaulters are around 100 (Indonesian Rupiah) which is high compared to defaulters. Which means increasing median of main account balance just before recharge in last 90 days at user level, increasing the probability of being non-defaulters.</a:t>
            </a:r>
          </a:p>
        </p:txBody>
      </p:sp>
      <p:sp>
        <p:nvSpPr>
          <p:cNvPr id="6" name="TextBox 5">
            <a:extLst>
              <a:ext uri="{FF2B5EF4-FFF2-40B4-BE49-F238E27FC236}">
                <a16:creationId xmlns:a16="http://schemas.microsoft.com/office/drawing/2014/main" id="{3DF7DA3F-C499-1FE0-5117-EDC7C3BA0369}"/>
              </a:ext>
            </a:extLst>
          </p:cNvPr>
          <p:cNvSpPr txBox="1"/>
          <p:nvPr/>
        </p:nvSpPr>
        <p:spPr>
          <a:xfrm>
            <a:off x="5558024" y="3189253"/>
            <a:ext cx="6094428" cy="2554545"/>
          </a:xfrm>
          <a:prstGeom prst="rect">
            <a:avLst/>
          </a:prstGeom>
          <a:noFill/>
        </p:spPr>
        <p:txBody>
          <a:bodyPr wrap="square">
            <a:spAutoFit/>
          </a:bodyPr>
          <a:lstStyle/>
          <a:p>
            <a:pPr marL="342900" indent="-342900" algn="just">
              <a:buFont typeface="Wingdings" panose="05000000000000000000" pitchFamily="2" charset="2"/>
              <a:buChar char="Ø"/>
            </a:pPr>
            <a:r>
              <a:rPr lang="en-US" sz="1600" b="0" i="0" dirty="0">
                <a:effectLst/>
                <a:latin typeface="Arial" panose="020B0604020202020204" pitchFamily="34" charset="0"/>
                <a:cs typeface="Arial" panose="020B0604020202020204" pitchFamily="34" charset="0"/>
              </a:rPr>
              <a:t>Defaulters have taken 1 loan in last 30 days that is when a person takes loan amount for 1 time in last 30 days the chances of not paying back the credit amount are higher. And the users who have paid back the loan, they have taken maximum number of 3 loans in last 30 days data.</a:t>
            </a:r>
          </a:p>
          <a:p>
            <a:pPr marL="342900" indent="-342900" algn="just">
              <a:buFont typeface="Wingdings" panose="05000000000000000000" pitchFamily="2" charset="2"/>
              <a:buChar char="Ø"/>
            </a:pPr>
            <a:r>
              <a:rPr lang="en-US" sz="1600" b="0" i="0" dirty="0">
                <a:effectLst/>
                <a:latin typeface="Arial" panose="020B0604020202020204" pitchFamily="34" charset="0"/>
                <a:cs typeface="Arial" panose="020B0604020202020204" pitchFamily="34" charset="0"/>
              </a:rPr>
              <a:t>In 90 days data, the number of loans taken by the defaulters are highly increasing also increasing the probability to being defaulter. Also, the number of loans taken by non-defaulters being decreased in last 90 days when compared to 30 days data.</a:t>
            </a:r>
          </a:p>
        </p:txBody>
      </p:sp>
    </p:spTree>
    <p:extLst>
      <p:ext uri="{BB962C8B-B14F-4D97-AF65-F5344CB8AC3E}">
        <p14:creationId xmlns:p14="http://schemas.microsoft.com/office/powerpoint/2010/main" val="3147543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A92F71CC-E2C3-E589-4D48-35730E815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154" y="249958"/>
            <a:ext cx="5966304" cy="221986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15CC3B14-A598-4F0C-C52C-0A804B3EFA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5975" y="335645"/>
            <a:ext cx="5966304" cy="22058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80B2A72-59CA-3BE6-1195-7D2C3100F4AE}"/>
              </a:ext>
            </a:extLst>
          </p:cNvPr>
          <p:cNvSpPr txBox="1"/>
          <p:nvPr/>
        </p:nvSpPr>
        <p:spPr>
          <a:xfrm>
            <a:off x="212154" y="2541518"/>
            <a:ext cx="5689025" cy="2554545"/>
          </a:xfrm>
          <a:prstGeom prst="rect">
            <a:avLst/>
          </a:prstGeom>
          <a:noFill/>
        </p:spPr>
        <p:txBody>
          <a:bodyPr wrap="square">
            <a:spAutoFit/>
          </a:bodyPr>
          <a:lstStyle/>
          <a:p>
            <a:pPr marL="285750" indent="-285750" algn="just">
              <a:buFont typeface="Wingdings" panose="05000000000000000000" pitchFamily="2" charset="2"/>
              <a:buChar char="ü"/>
            </a:pPr>
            <a:r>
              <a:rPr lang="en-US" sz="1600" b="0" i="0" dirty="0">
                <a:effectLst/>
                <a:latin typeface="Century" panose="02040604050505020304" pitchFamily="18" charset="0"/>
              </a:rPr>
              <a:t>The total amount of loans taken by the defaulters in last 30 days are in the range of 7.5-10 while the non-defaulters have taken up to 20 loans in last 30 days.</a:t>
            </a:r>
          </a:p>
          <a:p>
            <a:pPr marL="285750" indent="-285750" algn="just">
              <a:buFont typeface="Wingdings" panose="05000000000000000000" pitchFamily="2" charset="2"/>
              <a:buChar char="ü"/>
            </a:pPr>
            <a:r>
              <a:rPr lang="en-US" sz="1600" b="0" i="0" dirty="0">
                <a:effectLst/>
                <a:latin typeface="Century" panose="02040604050505020304" pitchFamily="18" charset="0"/>
              </a:rPr>
              <a:t>The total amount of loans taken by the defaulters in last 90 days are up to 10 and the non- defaulters have taken total amount of loans up to 26 in last 90 days.</a:t>
            </a:r>
          </a:p>
          <a:p>
            <a:pPr marL="285750" indent="-285750" algn="just">
              <a:buFont typeface="Wingdings" panose="05000000000000000000" pitchFamily="2" charset="2"/>
              <a:buChar char="ü"/>
            </a:pPr>
            <a:r>
              <a:rPr lang="en-US" sz="1600" b="0" i="0" dirty="0">
                <a:effectLst/>
                <a:latin typeface="Century" panose="02040604050505020304" pitchFamily="18" charset="0"/>
              </a:rPr>
              <a:t>So, from the above plot we can conclude that when the total number of loans taken by the users in last 90 days is below 10, then the chances of not paying back the loan amount are high.</a:t>
            </a:r>
          </a:p>
        </p:txBody>
      </p:sp>
      <p:sp>
        <p:nvSpPr>
          <p:cNvPr id="5" name="TextBox 4">
            <a:extLst>
              <a:ext uri="{FF2B5EF4-FFF2-40B4-BE49-F238E27FC236}">
                <a16:creationId xmlns:a16="http://schemas.microsoft.com/office/drawing/2014/main" id="{9ADC8B0D-38C4-F3FE-60EB-86D31EA2D1F8}"/>
              </a:ext>
            </a:extLst>
          </p:cNvPr>
          <p:cNvSpPr txBox="1"/>
          <p:nvPr/>
        </p:nvSpPr>
        <p:spPr>
          <a:xfrm>
            <a:off x="6162749" y="2541518"/>
            <a:ext cx="5689025" cy="2308324"/>
          </a:xfrm>
          <a:prstGeom prst="rect">
            <a:avLst/>
          </a:prstGeom>
          <a:noFill/>
        </p:spPr>
        <p:txBody>
          <a:bodyPr wrap="square">
            <a:spAutoFit/>
          </a:bodyPr>
          <a:lstStyle/>
          <a:p>
            <a:pPr marL="285750" indent="-285750" algn="just">
              <a:buFont typeface="Wingdings" panose="05000000000000000000" pitchFamily="2" charset="2"/>
              <a:buChar char="v"/>
            </a:pPr>
            <a:r>
              <a:rPr lang="en-US" sz="1600" b="0" i="0" dirty="0">
                <a:effectLst/>
                <a:latin typeface="Century" panose="02040604050505020304" pitchFamily="18" charset="0"/>
              </a:rPr>
              <a:t>The maximum amount of loan taken by the user in last 30 days and 90 days are almost same. The maximum amount of loan taken by the defaulters and non-defaulters are up to 6 and 7 respectively in last 30 and 90 days</a:t>
            </a:r>
          </a:p>
          <a:p>
            <a:pPr marL="285750" indent="-285750" algn="just">
              <a:buFont typeface="Wingdings" panose="05000000000000000000" pitchFamily="2" charset="2"/>
              <a:buChar char="v"/>
            </a:pPr>
            <a:endParaRPr lang="en-US" sz="1600" b="0" i="0" dirty="0">
              <a:effectLst/>
              <a:latin typeface="Century" panose="02040604050505020304" pitchFamily="18" charset="0"/>
            </a:endParaRPr>
          </a:p>
          <a:p>
            <a:pPr marL="285750" indent="-285750" algn="just">
              <a:buFont typeface="Wingdings" panose="05000000000000000000" pitchFamily="2" charset="2"/>
              <a:buChar char="v"/>
            </a:pPr>
            <a:r>
              <a:rPr lang="en-US" sz="1600" b="0" i="0" dirty="0">
                <a:effectLst/>
                <a:latin typeface="Century" panose="02040604050505020304" pitchFamily="18" charset="0"/>
              </a:rPr>
              <a:t>So from the plot we can say that whenever the user takes the maximum loan amount of 6, then only some users may not pay back the loan amount.</a:t>
            </a:r>
          </a:p>
        </p:txBody>
      </p:sp>
    </p:spTree>
    <p:extLst>
      <p:ext uri="{BB962C8B-B14F-4D97-AF65-F5344CB8AC3E}">
        <p14:creationId xmlns:p14="http://schemas.microsoft.com/office/powerpoint/2010/main" val="238103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1A844E93-7842-5FA1-42CD-612D404CB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461" y="183970"/>
            <a:ext cx="5492291" cy="20596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B84EA80-197F-071D-FADA-108C414FEFB6}"/>
              </a:ext>
            </a:extLst>
          </p:cNvPr>
          <p:cNvSpPr txBox="1"/>
          <p:nvPr/>
        </p:nvSpPr>
        <p:spPr>
          <a:xfrm>
            <a:off x="0" y="183970"/>
            <a:ext cx="6094428" cy="2308324"/>
          </a:xfrm>
          <a:prstGeom prst="rect">
            <a:avLst/>
          </a:prstGeom>
          <a:noFill/>
        </p:spPr>
        <p:txBody>
          <a:bodyPr wrap="square">
            <a:spAutoFit/>
          </a:bodyPr>
          <a:lstStyle/>
          <a:p>
            <a:pPr marL="285750" indent="-285750" algn="just">
              <a:buFont typeface="Wingdings" panose="05000000000000000000" pitchFamily="2" charset="2"/>
              <a:buChar char="v"/>
            </a:pPr>
            <a:r>
              <a:rPr lang="en-US" sz="1600" b="0" i="0" dirty="0">
                <a:effectLst/>
                <a:latin typeface="Arial" panose="020B0604020202020204" pitchFamily="34" charset="0"/>
                <a:cs typeface="Arial" panose="020B0604020202020204" pitchFamily="34" charset="0"/>
              </a:rPr>
              <a:t>The defaulters are paying back their loan in an average of 2-2.5 days and the non-defaulters are paying back their loan in an average of 3 days over last 30 days.</a:t>
            </a:r>
          </a:p>
          <a:p>
            <a:pPr marL="285750" indent="-285750" algn="just">
              <a:buFont typeface="Wingdings" panose="05000000000000000000" pitchFamily="2" charset="2"/>
              <a:buChar char="v"/>
            </a:pPr>
            <a:r>
              <a:rPr lang="en-US" sz="1600" b="0" i="0" dirty="0">
                <a:effectLst/>
                <a:latin typeface="Arial" panose="020B0604020202020204" pitchFamily="34" charset="0"/>
                <a:cs typeface="Arial" panose="020B0604020202020204" pitchFamily="34" charset="0"/>
              </a:rPr>
              <a:t>The defaulters in last 90 days, are paying back their loan in an average of 3 days and non-defaulters are paying back their loan in 4-5 days over last 90 days.</a:t>
            </a:r>
          </a:p>
          <a:p>
            <a:pPr marL="285750" indent="-285750" algn="just">
              <a:buFont typeface="Wingdings" panose="05000000000000000000" pitchFamily="2" charset="2"/>
              <a:buChar char="v"/>
            </a:pPr>
            <a:r>
              <a:rPr lang="en-US" sz="1600" b="0" i="0" dirty="0">
                <a:effectLst/>
                <a:latin typeface="Arial" panose="020B0604020202020204" pitchFamily="34" charset="0"/>
                <a:cs typeface="Arial" panose="020B0604020202020204" pitchFamily="34" charset="0"/>
              </a:rPr>
              <a:t>It is seen from the plot that when an average payback time is below 3 days over last 30 &amp; 90 days, then defaulters' rate is high.</a:t>
            </a:r>
          </a:p>
        </p:txBody>
      </p:sp>
      <p:pic>
        <p:nvPicPr>
          <p:cNvPr id="9220" name="Picture 4">
            <a:extLst>
              <a:ext uri="{FF2B5EF4-FFF2-40B4-BE49-F238E27FC236}">
                <a16:creationId xmlns:a16="http://schemas.microsoft.com/office/drawing/2014/main" id="{24485F46-86C5-6FBA-D3A0-E95076A9C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779795"/>
            <a:ext cx="6217918" cy="230832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B86CFED-40BD-2AD5-AA9C-27075D5E330B}"/>
              </a:ext>
            </a:extLst>
          </p:cNvPr>
          <p:cNvSpPr txBox="1"/>
          <p:nvPr/>
        </p:nvSpPr>
        <p:spPr>
          <a:xfrm>
            <a:off x="6344240" y="3214788"/>
            <a:ext cx="5128181" cy="830997"/>
          </a:xfrm>
          <a:prstGeom prst="rect">
            <a:avLst/>
          </a:prstGeom>
          <a:noFill/>
        </p:spPr>
        <p:txBody>
          <a:bodyPr wrap="square">
            <a:spAutoFit/>
          </a:bodyPr>
          <a:lstStyle/>
          <a:p>
            <a:pPr marL="285750" indent="-285750" algn="just">
              <a:buFont typeface="Wingdings" panose="05000000000000000000" pitchFamily="2" charset="2"/>
              <a:buChar char="q"/>
            </a:pPr>
            <a:r>
              <a:rPr lang="en-US" sz="1600" b="0" i="0" dirty="0">
                <a:effectLst/>
                <a:latin typeface="Arial" panose="020B0604020202020204" pitchFamily="34" charset="0"/>
                <a:cs typeface="Arial" panose="020B0604020202020204" pitchFamily="34" charset="0"/>
              </a:rPr>
              <a:t>The users who have taken loans in the month of august, they seem paying back their loan within 5 days.</a:t>
            </a:r>
          </a:p>
        </p:txBody>
      </p:sp>
    </p:spTree>
    <p:extLst>
      <p:ext uri="{BB962C8B-B14F-4D97-AF65-F5344CB8AC3E}">
        <p14:creationId xmlns:p14="http://schemas.microsoft.com/office/powerpoint/2010/main" val="1879947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D52E-D1E0-D1BC-46B5-DF079500E007}"/>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Outliers</a:t>
            </a:r>
            <a:endParaRPr lang="en-IN" dirty="0"/>
          </a:p>
        </p:txBody>
      </p:sp>
      <p:sp>
        <p:nvSpPr>
          <p:cNvPr id="4" name="TextBox 3">
            <a:extLst>
              <a:ext uri="{FF2B5EF4-FFF2-40B4-BE49-F238E27FC236}">
                <a16:creationId xmlns:a16="http://schemas.microsoft.com/office/drawing/2014/main" id="{3BF9B6B7-CC21-31E5-DC20-39168B0077A1}"/>
              </a:ext>
            </a:extLst>
          </p:cNvPr>
          <p:cNvSpPr txBox="1"/>
          <p:nvPr/>
        </p:nvSpPr>
        <p:spPr>
          <a:xfrm>
            <a:off x="897904" y="1897964"/>
            <a:ext cx="9631836" cy="2554545"/>
          </a:xfrm>
          <a:prstGeom prst="rect">
            <a:avLst/>
          </a:prstGeom>
          <a:noFill/>
        </p:spPr>
        <p:txBody>
          <a:bodyPr wrap="square">
            <a:spAutoFit/>
          </a:bodyPr>
          <a:lstStyle/>
          <a:p>
            <a:pPr marL="285750" indent="-285750" algn="just">
              <a:buFont typeface="Wingdings" panose="05000000000000000000" pitchFamily="2" charset="2"/>
              <a:buChar char="ü"/>
            </a:pPr>
            <a:r>
              <a:rPr lang="en-US" sz="1600" b="0" i="0" dirty="0">
                <a:effectLst/>
                <a:latin typeface="Arial" panose="020B0604020202020204" pitchFamily="34" charset="0"/>
                <a:cs typeface="Arial" panose="020B0604020202020204" pitchFamily="34" charset="0"/>
              </a:rPr>
              <a:t>A box plot is used to summarize data sets by using the box and whisker plot method. This function helps to understand the data summary properly. Box plots can be very useful when we want to know how the data is distributed and spread. Three types of quartiles are used in the box plot to plot the data. These values include the median, maximum, minimum, upper-quartile, and lower-quartile statistical values. A box plot summarizes this data in the 25</a:t>
            </a:r>
            <a:r>
              <a:rPr lang="en-US" sz="1600" b="0" i="0" baseline="30000" dirty="0">
                <a:effectLst/>
                <a:latin typeface="Arial" panose="020B0604020202020204" pitchFamily="34" charset="0"/>
                <a:cs typeface="Arial" panose="020B0604020202020204" pitchFamily="34" charset="0"/>
              </a:rPr>
              <a:t>th</a:t>
            </a:r>
            <a:r>
              <a:rPr lang="en-US" sz="1600" b="0" i="0" dirty="0">
                <a:effectLst/>
                <a:latin typeface="Arial" panose="020B0604020202020204" pitchFamily="34" charset="0"/>
                <a:cs typeface="Arial" panose="020B0604020202020204" pitchFamily="34" charset="0"/>
              </a:rPr>
              <a:t>, 50</a:t>
            </a:r>
            <a:r>
              <a:rPr lang="en-US" sz="1600" b="0" i="0" baseline="30000" dirty="0">
                <a:effectLst/>
                <a:latin typeface="Arial" panose="020B0604020202020204" pitchFamily="34" charset="0"/>
                <a:cs typeface="Arial" panose="020B0604020202020204" pitchFamily="34" charset="0"/>
              </a:rPr>
              <a:t>th</a:t>
            </a:r>
            <a:r>
              <a:rPr lang="en-US" sz="1600" b="0" i="0" dirty="0">
                <a:effectLst/>
                <a:latin typeface="Arial" panose="020B0604020202020204" pitchFamily="34" charset="0"/>
                <a:cs typeface="Arial" panose="020B0604020202020204" pitchFamily="34" charset="0"/>
              </a:rPr>
              <a:t>, and 75</a:t>
            </a:r>
            <a:r>
              <a:rPr lang="en-US" sz="1600" b="0" i="0" baseline="30000" dirty="0">
                <a:effectLst/>
                <a:latin typeface="Arial" panose="020B0604020202020204" pitchFamily="34" charset="0"/>
                <a:cs typeface="Arial" panose="020B0604020202020204" pitchFamily="34" charset="0"/>
              </a:rPr>
              <a:t>th</a:t>
            </a:r>
            <a:r>
              <a:rPr lang="en-US" sz="1600" b="0" i="0" dirty="0">
                <a:effectLst/>
                <a:latin typeface="Arial" panose="020B0604020202020204" pitchFamily="34" charset="0"/>
                <a:cs typeface="Arial" panose="020B0604020202020204" pitchFamily="34" charset="0"/>
              </a:rPr>
              <a:t> percentiles.</a:t>
            </a:r>
          </a:p>
          <a:p>
            <a:endParaRPr lang="en-US" sz="1600" dirty="0">
              <a:solidFill>
                <a:srgbClr val="000000"/>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US" sz="1600" b="0" i="0" dirty="0">
                <a:solidFill>
                  <a:srgbClr val="000000"/>
                </a:solidFill>
                <a:effectLst/>
                <a:latin typeface="Arial" panose="020B0604020202020204" pitchFamily="34" charset="0"/>
                <a:cs typeface="Arial" panose="020B0604020202020204" pitchFamily="34" charset="0"/>
              </a:rPr>
              <a:t>From the box plot we can notice the outliers present in all the features except Day and Month columns. </a:t>
            </a:r>
            <a:r>
              <a:rPr lang="en-US" sz="1600" dirty="0">
                <a:solidFill>
                  <a:srgbClr val="000000"/>
                </a:solidFill>
                <a:latin typeface="Arial" panose="020B0604020202020204" pitchFamily="34" charset="0"/>
                <a:cs typeface="Arial" panose="020B0604020202020204" pitchFamily="34" charset="0"/>
              </a:rPr>
              <a:t>I have r</a:t>
            </a:r>
            <a:r>
              <a:rPr lang="en-US" sz="1600" b="0" i="0" dirty="0">
                <a:solidFill>
                  <a:srgbClr val="000000"/>
                </a:solidFill>
                <a:effectLst/>
                <a:latin typeface="Arial" panose="020B0604020202020204" pitchFamily="34" charset="0"/>
                <a:cs typeface="Arial" panose="020B0604020202020204" pitchFamily="34" charset="0"/>
              </a:rPr>
              <a:t>emoved the outliers in these columns using percentile method except Day, Month and label. Since label is our target columns we should not loose any data by removing outliers in this column.</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8088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408425DA-4376-D29B-7B96-F7780F28C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399" y="273377"/>
            <a:ext cx="9167202" cy="6087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659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135987-1D74-9B00-91D7-4EAFE3BCD052}"/>
              </a:ext>
            </a:extLst>
          </p:cNvPr>
          <p:cNvSpPr>
            <a:spLocks noGrp="1"/>
          </p:cNvSpPr>
          <p:nvPr>
            <p:ph type="title"/>
          </p:nvPr>
        </p:nvSpPr>
        <p:spPr/>
        <p:txBody>
          <a:bodyPr>
            <a:normAutofit/>
          </a:bodyPr>
          <a:lstStyle/>
          <a:p>
            <a:r>
              <a:rPr lang="en-US" sz="3600" dirty="0"/>
              <a:t>Data After Removing Skewness and Outliers</a:t>
            </a:r>
            <a:endParaRPr lang="en-IN" sz="3600" dirty="0"/>
          </a:p>
        </p:txBody>
      </p:sp>
      <p:pic>
        <p:nvPicPr>
          <p:cNvPr id="11266" name="Picture 2">
            <a:extLst>
              <a:ext uri="{FF2B5EF4-FFF2-40B4-BE49-F238E27FC236}">
                <a16:creationId xmlns:a16="http://schemas.microsoft.com/office/drawing/2014/main" id="{428AFAC8-0CBB-382A-6422-EBE504A83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834" y="1881562"/>
            <a:ext cx="4231359" cy="4161019"/>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141269B8-EFBE-1033-1DF5-479C16480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6985" y="1864607"/>
            <a:ext cx="5075816" cy="42533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F2772C7-BC74-E249-966D-003D5FB8EF1C}"/>
              </a:ext>
            </a:extLst>
          </p:cNvPr>
          <p:cNvSpPr txBox="1"/>
          <p:nvPr/>
        </p:nvSpPr>
        <p:spPr>
          <a:xfrm>
            <a:off x="654220" y="6042581"/>
            <a:ext cx="10944519" cy="584775"/>
          </a:xfrm>
          <a:prstGeom prst="rect">
            <a:avLst/>
          </a:prstGeom>
          <a:noFill/>
        </p:spPr>
        <p:txBody>
          <a:bodyPr wrap="square">
            <a:spAutoFit/>
          </a:bodyPr>
          <a:lstStyle/>
          <a:p>
            <a:pPr algn="just"/>
            <a:r>
              <a:rPr lang="en-US" sz="1600" dirty="0">
                <a:latin typeface="Arial" panose="020B0604020202020204" pitchFamily="34" charset="0"/>
                <a:cs typeface="Arial" panose="020B0604020202020204" pitchFamily="34" charset="0"/>
              </a:rPr>
              <a:t>This is the data after removing outliers and skewness using percentile method and power transformations methods respectively. The data looks almost normal and outliers level also reduced.</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3882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256FB0-C2C2-B3A5-5E8A-804B45DC6B68}"/>
              </a:ext>
            </a:extLst>
          </p:cNvPr>
          <p:cNvSpPr txBox="1"/>
          <p:nvPr/>
        </p:nvSpPr>
        <p:spPr>
          <a:xfrm>
            <a:off x="2538166" y="305527"/>
            <a:ext cx="7407111" cy="523220"/>
          </a:xfrm>
          <a:prstGeom prst="rect">
            <a:avLst/>
          </a:prstGeom>
          <a:noFill/>
        </p:spPr>
        <p:txBody>
          <a:bodyPr wrap="square">
            <a:spAutoFit/>
          </a:bodyPr>
          <a:lstStyle/>
          <a:p>
            <a:pPr algn="ctr"/>
            <a:r>
              <a:rPr lang="en-US" sz="2800" dirty="0">
                <a:latin typeface="Arial" panose="020B0604020202020204" pitchFamily="34" charset="0"/>
                <a:cs typeface="Arial" panose="020B0604020202020204" pitchFamily="34" charset="0"/>
              </a:rPr>
              <a:t>Correlation Between Features and Label</a:t>
            </a:r>
            <a:endParaRPr lang="en-IN" sz="2800" dirty="0">
              <a:latin typeface="Arial" panose="020B0604020202020204" pitchFamily="34" charset="0"/>
              <a:cs typeface="Arial" panose="020B0604020202020204" pitchFamily="34" charset="0"/>
            </a:endParaRPr>
          </a:p>
        </p:txBody>
      </p:sp>
      <p:pic>
        <p:nvPicPr>
          <p:cNvPr id="12290" name="Picture 2">
            <a:extLst>
              <a:ext uri="{FF2B5EF4-FFF2-40B4-BE49-F238E27FC236}">
                <a16:creationId xmlns:a16="http://schemas.microsoft.com/office/drawing/2014/main" id="{0EED9A3E-8C21-6EC1-5B1F-EC470CA359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513" y="1257300"/>
            <a:ext cx="8562975"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5395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7FBDD-B42C-1886-F137-080C8A267E8E}"/>
              </a:ext>
            </a:extLst>
          </p:cNvPr>
          <p:cNvSpPr>
            <a:spLocks noGrp="1"/>
          </p:cNvSpPr>
          <p:nvPr>
            <p:ph type="title"/>
          </p:nvPr>
        </p:nvSpPr>
        <p:spPr/>
        <p:txBody>
          <a:bodyPr/>
          <a:lstStyle/>
          <a:p>
            <a:r>
              <a:rPr lang="en-IN" dirty="0"/>
              <a:t>Data Balancing</a:t>
            </a:r>
          </a:p>
        </p:txBody>
      </p:sp>
      <p:pic>
        <p:nvPicPr>
          <p:cNvPr id="13314" name="Picture 2">
            <a:extLst>
              <a:ext uri="{FF2B5EF4-FFF2-40B4-BE49-F238E27FC236}">
                <a16:creationId xmlns:a16="http://schemas.microsoft.com/office/drawing/2014/main" id="{7F0967A7-554A-46FE-009E-81B8C781F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0823" y="2086956"/>
            <a:ext cx="4724212" cy="30336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F49167-C515-7C45-3B7A-5635E875CA51}"/>
              </a:ext>
            </a:extLst>
          </p:cNvPr>
          <p:cNvSpPr txBox="1"/>
          <p:nvPr/>
        </p:nvSpPr>
        <p:spPr>
          <a:xfrm>
            <a:off x="1036320" y="2261961"/>
            <a:ext cx="4864859" cy="2308324"/>
          </a:xfrm>
          <a:prstGeom prst="rect">
            <a:avLst/>
          </a:prstGeom>
          <a:noFill/>
        </p:spPr>
        <p:txBody>
          <a:bodyPr wrap="square">
            <a:spAutoFit/>
          </a:bodyPr>
          <a:lstStyle/>
          <a:p>
            <a:pPr marL="285750" indent="-285750" algn="just">
              <a:buFont typeface="Wingdings" panose="05000000000000000000" pitchFamily="2" charset="2"/>
              <a:buChar char="§"/>
            </a:pPr>
            <a:r>
              <a:rPr lang="en-US" sz="1600" dirty="0">
                <a:latin typeface="Arial" panose="020B0604020202020204" pitchFamily="34" charset="0"/>
                <a:cs typeface="Arial" panose="020B0604020202020204" pitchFamily="34" charset="0"/>
              </a:rPr>
              <a:t>I have used oversampling (SMOTE) method  to balance the data. The obtained output looks like this.</a:t>
            </a:r>
          </a:p>
          <a:p>
            <a:pPr marL="285750" indent="-285750" algn="just">
              <a:buFont typeface="Wingdings" panose="05000000000000000000" pitchFamily="2" charset="2"/>
              <a:buChar char="§"/>
            </a:pPr>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b="0" i="0" dirty="0">
                <a:effectLst/>
                <a:latin typeface="Arial" panose="020B0604020202020204" pitchFamily="34" charset="0"/>
                <a:cs typeface="Arial" panose="020B0604020202020204" pitchFamily="34" charset="0"/>
              </a:rPr>
              <a:t>Here we see that we have successfully resolved the class imbalance problem and now all the categories have same data ensuring that the machine learning model does not get biased towards one category.</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7494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F152-FAD8-4823-2AE3-38807B755EED}"/>
              </a:ext>
            </a:extLst>
          </p:cNvPr>
          <p:cNvSpPr>
            <a:spLocks noGrp="1"/>
          </p:cNvSpPr>
          <p:nvPr>
            <p:ph type="title"/>
          </p:nvPr>
        </p:nvSpPr>
        <p:spPr/>
        <p:txBody>
          <a:bodyPr/>
          <a:lstStyle/>
          <a:p>
            <a:r>
              <a:rPr lang="en-IN" dirty="0"/>
              <a:t>Data Analysis</a:t>
            </a:r>
          </a:p>
        </p:txBody>
      </p:sp>
      <p:sp>
        <p:nvSpPr>
          <p:cNvPr id="4" name="TextBox 3">
            <a:extLst>
              <a:ext uri="{FF2B5EF4-FFF2-40B4-BE49-F238E27FC236}">
                <a16:creationId xmlns:a16="http://schemas.microsoft.com/office/drawing/2014/main" id="{D40CCAFF-8E17-32ED-64D8-9FC2D9FCC416}"/>
              </a:ext>
            </a:extLst>
          </p:cNvPr>
          <p:cNvSpPr txBox="1"/>
          <p:nvPr/>
        </p:nvSpPr>
        <p:spPr>
          <a:xfrm>
            <a:off x="876694" y="1847652"/>
            <a:ext cx="10492032" cy="4031873"/>
          </a:xfrm>
          <a:prstGeom prst="rect">
            <a:avLst/>
          </a:prstGeom>
          <a:noFill/>
        </p:spPr>
        <p:txBody>
          <a:bodyPr wrap="square">
            <a:spAutoFit/>
          </a:bodyPr>
          <a:lstStyle/>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I have done feature engineering steps like feature extraction and feature selection to improve data normality and linearity.</a:t>
            </a: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Identified outliers using boxplots and removed outliers using percentile method.</a:t>
            </a: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Identified skewness using distribution plots and removed skewness using power transformation method (yeo-</a:t>
            </a:r>
            <a:r>
              <a:rPr lang="en-US" sz="1600" dirty="0" err="1">
                <a:latin typeface="Arial" panose="020B0604020202020204" pitchFamily="34" charset="0"/>
                <a:cs typeface="Arial" panose="020B0604020202020204" pitchFamily="34" charset="0"/>
              </a:rPr>
              <a:t>johnson</a:t>
            </a:r>
            <a:r>
              <a:rPr lang="en-US" sz="1600" dirty="0">
                <a:latin typeface="Arial" panose="020B0604020202020204" pitchFamily="34" charset="0"/>
                <a:cs typeface="Arial" panose="020B0604020202020204" pitchFamily="34" charset="0"/>
              </a:rPr>
              <a:t> method).</a:t>
            </a: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Used Pearson’s correlation coefficient to check the correlation between dependent and independent variables. To visualize the correlation I have used heatmap and bar plot.</a:t>
            </a: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I have used </a:t>
            </a:r>
            <a:r>
              <a:rPr lang="en-US" sz="1600" dirty="0" err="1">
                <a:latin typeface="Arial" panose="020B0604020202020204" pitchFamily="34" charset="0"/>
                <a:cs typeface="Arial" panose="020B0604020202020204" pitchFamily="34" charset="0"/>
              </a:rPr>
              <a:t>MinMaxScalar</a:t>
            </a:r>
            <a:r>
              <a:rPr lang="en-US" sz="1600" dirty="0">
                <a:latin typeface="Arial" panose="020B0604020202020204" pitchFamily="34" charset="0"/>
                <a:cs typeface="Arial" panose="020B0604020202020204" pitchFamily="34" charset="0"/>
              </a:rPr>
              <a:t> method to scale the data to o</a:t>
            </a:r>
            <a:r>
              <a:rPr lang="en-US" sz="1600" b="0" i="0" dirty="0">
                <a:effectLst/>
                <a:latin typeface="Arial" panose="020B0604020202020204" pitchFamily="34" charset="0"/>
                <a:cs typeface="Arial" panose="020B0604020202020204" pitchFamily="34" charset="0"/>
              </a:rPr>
              <a:t>vercome with the issue of data biasness</a:t>
            </a:r>
            <a:r>
              <a:rPr lang="en-US" sz="1600" dirty="0">
                <a:latin typeface="Arial" panose="020B0604020202020204" pitchFamily="34" charset="0"/>
                <a:cs typeface="Arial" panose="020B0604020202020204" pitchFamily="34" charset="0"/>
              </a:rPr>
              <a:t>.</a:t>
            </a: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Balanced the data using SMOTE oversampling mechanism.</a:t>
            </a:r>
          </a:p>
          <a:p>
            <a:pPr algn="just"/>
            <a:endParaRPr lang="en-US" sz="16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n-US" sz="1600" dirty="0">
                <a:latin typeface="Arial" panose="020B0604020202020204" pitchFamily="34" charset="0"/>
                <a:cs typeface="Arial" panose="020B0604020202020204" pitchFamily="34" charset="0"/>
              </a:rPr>
              <a:t>Split train and test to build machine learning models. Model building process will be shown in the further steps.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14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2E55A1-5E65-4572-B026-C558140C0353}"/>
              </a:ext>
            </a:extLst>
          </p:cNvPr>
          <p:cNvSpPr txBox="1"/>
          <p:nvPr/>
        </p:nvSpPr>
        <p:spPr>
          <a:xfrm>
            <a:off x="727788" y="307910"/>
            <a:ext cx="10879494" cy="584775"/>
          </a:xfrm>
          <a:prstGeom prst="rect">
            <a:avLst/>
          </a:prstGeom>
          <a:noFill/>
        </p:spPr>
        <p:txBody>
          <a:bodyPr wrap="square" rtlCol="0">
            <a:spAutoFit/>
          </a:bodyPr>
          <a:lstStyle/>
          <a:p>
            <a:r>
              <a:rPr lang="en-US" sz="3200" dirty="0">
                <a:latin typeface="Bookman Old Style" panose="02050604050505020204" pitchFamily="18" charset="0"/>
              </a:rPr>
              <a:t>Assumptions:</a:t>
            </a:r>
            <a:endParaRPr lang="en-IN" sz="3200" dirty="0">
              <a:latin typeface="Bookman Old Style" panose="02050604050505020204" pitchFamily="18" charset="0"/>
            </a:endParaRPr>
          </a:p>
        </p:txBody>
      </p:sp>
      <p:sp>
        <p:nvSpPr>
          <p:cNvPr id="4" name="TextBox 3">
            <a:extLst>
              <a:ext uri="{FF2B5EF4-FFF2-40B4-BE49-F238E27FC236}">
                <a16:creationId xmlns:a16="http://schemas.microsoft.com/office/drawing/2014/main" id="{4790D58A-1496-45C1-85DA-63BA3FC1C0BD}"/>
              </a:ext>
            </a:extLst>
          </p:cNvPr>
          <p:cNvSpPr txBox="1"/>
          <p:nvPr/>
        </p:nvSpPr>
        <p:spPr>
          <a:xfrm>
            <a:off x="727788" y="1418253"/>
            <a:ext cx="10879494" cy="3416320"/>
          </a:xfrm>
          <a:prstGeom prst="rect">
            <a:avLst/>
          </a:prstGeom>
          <a:noFill/>
        </p:spPr>
        <p:txBody>
          <a:bodyPr wrap="square" rtlCol="0">
            <a:spAutoFit/>
          </a:bodyPr>
          <a:lstStyle/>
          <a:p>
            <a:pPr marL="285750" indent="-285750" algn="just">
              <a:buFont typeface="Wingdings" panose="05000000000000000000" pitchFamily="2" charset="2"/>
              <a:buChar char="ü"/>
            </a:pPr>
            <a:r>
              <a:rPr lang="en-US" dirty="0">
                <a:latin typeface="Arial" panose="020B0604020202020204" pitchFamily="34" charset="0"/>
                <a:cs typeface="Arial" panose="020B0604020202020204" pitchFamily="34" charset="0"/>
              </a:rPr>
              <a:t>Firstly, from the problem statement we got to know that it is a Classification type problem for which we will be using Classification algorithms to build the model and predict the defaulters level.</a:t>
            </a:r>
          </a:p>
          <a:p>
            <a:pPr algn="just"/>
            <a:endParaRPr lang="en-US"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US" dirty="0">
                <a:latin typeface="Arial" panose="020B0604020202020204" pitchFamily="34" charset="0"/>
                <a:cs typeface="Arial" panose="020B0604020202020204" pitchFamily="34" charset="0"/>
              </a:rPr>
              <a:t>Secondly, from the distribution plots and box plots I found skewness and outliers in almost all the columns. Also, based upon the analysis and visualization part we have seen some of the features having linear relation with label. So, I assumed these features helps in model building and to predict the defaulters and non-defaulters level in the organizations. Also, it helps the loan providing companies to give loan to the people who do not have sufficient credit history based on these features. </a:t>
            </a:r>
          </a:p>
          <a:p>
            <a:pPr marL="285750" indent="-285750" algn="just">
              <a:buFont typeface="Wingdings" panose="05000000000000000000" pitchFamily="2" charset="2"/>
              <a:buChar char="ü"/>
            </a:pPr>
            <a:endParaRPr lang="en-US"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US" dirty="0">
                <a:latin typeface="Arial" panose="020B0604020202020204" pitchFamily="34" charset="0"/>
                <a:cs typeface="Arial" panose="020B0604020202020204" pitchFamily="34" charset="0"/>
              </a:rPr>
              <a:t>So, </a:t>
            </a:r>
            <a:r>
              <a:rPr lang="en-IN" dirty="0">
                <a:effectLst/>
                <a:latin typeface="Arial" panose="020B0604020202020204" pitchFamily="34" charset="0"/>
                <a:ea typeface="Calibri" panose="020F0502020204030204" pitchFamily="34" charset="0"/>
                <a:cs typeface="Arial" panose="020B0604020202020204" pitchFamily="34" charset="0"/>
              </a:rPr>
              <a:t>I suggest that the financial institutions take into consideration the features that were deemed as most important as seen in this study might help them estimate the defaulters level.</a:t>
            </a:r>
          </a:p>
          <a:p>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711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822AEF-FB37-4619-A6B4-B7EB17696967}"/>
              </a:ext>
            </a:extLst>
          </p:cNvPr>
          <p:cNvSpPr txBox="1"/>
          <p:nvPr/>
        </p:nvSpPr>
        <p:spPr>
          <a:xfrm>
            <a:off x="569167" y="261257"/>
            <a:ext cx="11224727" cy="584775"/>
          </a:xfrm>
          <a:prstGeom prst="rect">
            <a:avLst/>
          </a:prstGeom>
          <a:noFill/>
        </p:spPr>
        <p:txBody>
          <a:bodyPr wrap="square">
            <a:spAutoFit/>
          </a:bodyPr>
          <a:lstStyle/>
          <a:p>
            <a:r>
              <a:rPr lang="en-US" sz="3200" u="sng" dirty="0">
                <a:latin typeface="Bookman Old Style" panose="02050604050505020204" pitchFamily="18" charset="0"/>
              </a:rPr>
              <a:t>Model</a:t>
            </a:r>
            <a:r>
              <a:rPr lang="en-US" sz="3200" u="sng" dirty="0">
                <a:solidFill>
                  <a:srgbClr val="002060"/>
                </a:solidFill>
                <a:latin typeface="Bookman Old Style" panose="02050604050505020204" pitchFamily="18" charset="0"/>
              </a:rPr>
              <a:t> Building:</a:t>
            </a:r>
            <a:endParaRPr lang="en-IN" sz="3200" u="sng" dirty="0">
              <a:solidFill>
                <a:srgbClr val="002060"/>
              </a:solidFill>
              <a:latin typeface="Bookman Old Style" panose="02050604050505020204" pitchFamily="18" charset="0"/>
            </a:endParaRPr>
          </a:p>
        </p:txBody>
      </p:sp>
      <p:sp>
        <p:nvSpPr>
          <p:cNvPr id="7" name="TextBox 6">
            <a:extLst>
              <a:ext uri="{FF2B5EF4-FFF2-40B4-BE49-F238E27FC236}">
                <a16:creationId xmlns:a16="http://schemas.microsoft.com/office/drawing/2014/main" id="{0AA9CF00-3ED1-472A-A1CA-95B9EE7146DE}"/>
              </a:ext>
            </a:extLst>
          </p:cNvPr>
          <p:cNvSpPr txBox="1"/>
          <p:nvPr/>
        </p:nvSpPr>
        <p:spPr>
          <a:xfrm>
            <a:off x="569167" y="1082351"/>
            <a:ext cx="11224727" cy="4458849"/>
          </a:xfrm>
          <a:prstGeom prst="rect">
            <a:avLst/>
          </a:prstGeom>
          <a:noFill/>
        </p:spPr>
        <p:txBody>
          <a:bodyPr wrap="square">
            <a:spAutoFit/>
          </a:bodyPr>
          <a:lstStyle/>
          <a:p>
            <a:pPr marL="285750" indent="-285750" algn="just">
              <a:buFont typeface="Wingdings" panose="05000000000000000000" pitchFamily="2" charset="2"/>
              <a:buChar char="Ø"/>
            </a:pPr>
            <a:r>
              <a:rPr lang="en-IN" sz="1800" dirty="0">
                <a:effectLst/>
                <a:latin typeface="Arial" panose="020B0604020202020204" pitchFamily="34" charset="0"/>
                <a:ea typeface="Calibri" panose="020F0502020204030204" pitchFamily="34" charset="0"/>
                <a:cs typeface="Arial" panose="020B0604020202020204" pitchFamily="34" charset="0"/>
              </a:rPr>
              <a:t>In this problem </a:t>
            </a:r>
            <a:r>
              <a:rPr lang="en-IN" dirty="0">
                <a:latin typeface="Arial" panose="020B0604020202020204" pitchFamily="34" charset="0"/>
                <a:ea typeface="Calibri" panose="020F0502020204030204" pitchFamily="34" charset="0"/>
                <a:cs typeface="Arial" panose="020B0604020202020204" pitchFamily="34" charset="0"/>
              </a:rPr>
              <a:t>label</a:t>
            </a:r>
            <a:r>
              <a:rPr lang="en-IN" sz="1800" dirty="0">
                <a:effectLst/>
                <a:latin typeface="Arial" panose="020B0604020202020204" pitchFamily="34" charset="0"/>
                <a:ea typeface="Calibri" panose="020F0502020204030204" pitchFamily="34" charset="0"/>
                <a:cs typeface="Arial" panose="020B0604020202020204" pitchFamily="34" charset="0"/>
              </a:rPr>
              <a:t> is</a:t>
            </a:r>
            <a:r>
              <a:rPr lang="en-IN" dirty="0">
                <a:latin typeface="Arial" panose="020B0604020202020204" pitchFamily="34" charset="0"/>
                <a:ea typeface="Calibri" panose="020F0502020204030204" pitchFamily="34" charset="0"/>
                <a:cs typeface="Arial" panose="020B0604020202020204" pitchFamily="34" charset="0"/>
              </a:rPr>
              <a:t> </a:t>
            </a:r>
            <a:r>
              <a:rPr lang="en-IN" sz="1800" dirty="0">
                <a:effectLst/>
                <a:latin typeface="Arial" panose="020B0604020202020204" pitchFamily="34" charset="0"/>
                <a:ea typeface="Calibri" panose="020F0502020204030204" pitchFamily="34" charset="0"/>
                <a:cs typeface="Arial" panose="020B0604020202020204" pitchFamily="34" charset="0"/>
              </a:rPr>
              <a:t>our target variable which is categorical in nature that </a:t>
            </a:r>
            <a:r>
              <a:rPr lang="en-IN" dirty="0">
                <a:latin typeface="Arial" panose="020B0604020202020204" pitchFamily="34" charset="0"/>
                <a:ea typeface="Calibri" panose="020F0502020204030204" pitchFamily="34" charset="0"/>
                <a:cs typeface="Arial" panose="020B0604020202020204" pitchFamily="34" charset="0"/>
              </a:rPr>
              <a:t>is </a:t>
            </a:r>
            <a:r>
              <a:rPr lang="en-IN" sz="1800" dirty="0">
                <a:effectLst/>
                <a:latin typeface="Arial" panose="020B0604020202020204" pitchFamily="34" charset="0"/>
                <a:ea typeface="Calibri" panose="020F0502020204030204" pitchFamily="34" charset="0"/>
                <a:cs typeface="Arial" panose="020B0604020202020204" pitchFamily="34" charset="0"/>
              </a:rPr>
              <a:t>the Label ‘1’ indicates that the loan has been paid i.e., “non-defaulter”, while, Label ‘0’ indicates that the loan has not been paid i.e., “defaulter”. From this I can conclude that it is a </a:t>
            </a:r>
            <a:r>
              <a:rPr lang="en-IN" dirty="0">
                <a:latin typeface="Arial" panose="020B0604020202020204" pitchFamily="34" charset="0"/>
                <a:ea typeface="Calibri" panose="020F0502020204030204" pitchFamily="34" charset="0"/>
                <a:cs typeface="Arial" panose="020B0604020202020204" pitchFamily="34" charset="0"/>
              </a:rPr>
              <a:t>C</a:t>
            </a:r>
            <a:r>
              <a:rPr lang="en-IN" sz="1800" dirty="0">
                <a:effectLst/>
                <a:latin typeface="Arial" panose="020B0604020202020204" pitchFamily="34" charset="0"/>
                <a:ea typeface="Calibri" panose="020F0502020204030204" pitchFamily="34" charset="0"/>
                <a:cs typeface="Arial" panose="020B0604020202020204" pitchFamily="34" charset="0"/>
              </a:rPr>
              <a:t>lassification type problem hence I have used following regression algorithms. </a:t>
            </a:r>
          </a:p>
          <a:p>
            <a:pPr marL="285750" indent="-285750" algn="just">
              <a:lnSpc>
                <a:spcPct val="107000"/>
              </a:lnSpc>
              <a:spcAft>
                <a:spcPts val="800"/>
              </a:spcAft>
              <a:buFont typeface="Wingdings" panose="05000000000000000000" pitchFamily="2" charset="2"/>
              <a:buChar char="Ø"/>
            </a:pPr>
            <a:r>
              <a:rPr lang="en-IN" sz="1800" dirty="0">
                <a:effectLst/>
                <a:latin typeface="Arial" panose="020B0604020202020204" pitchFamily="34" charset="0"/>
                <a:ea typeface="Calibri" panose="020F0502020204030204" pitchFamily="34" charset="0"/>
                <a:cs typeface="Arial" panose="020B0604020202020204" pitchFamily="34" charset="0"/>
              </a:rPr>
              <a:t>After the pre-processing and data cleaning I left with 27 columns including target and with the help of feature importance bar graph I used these independent features for model building and prediction. The algorithms used on training the data are as follows:</a:t>
            </a:r>
          </a:p>
          <a:p>
            <a:pPr marL="857250" lvl="1" indent="-400050" algn="just">
              <a:lnSpc>
                <a:spcPct val="107000"/>
              </a:lnSpc>
              <a:spcAft>
                <a:spcPts val="800"/>
              </a:spcAft>
              <a:buFont typeface="+mj-lt"/>
              <a:buAutoNum type="romanLcPeriod"/>
            </a:pPr>
            <a:r>
              <a:rPr lang="en-IN" dirty="0">
                <a:effectLst/>
                <a:latin typeface="Arial" panose="020B0604020202020204" pitchFamily="34" charset="0"/>
                <a:ea typeface="Calibri" panose="020F0502020204030204" pitchFamily="34" charset="0"/>
                <a:cs typeface="Arial" panose="020B0604020202020204" pitchFamily="34" charset="0"/>
              </a:rPr>
              <a:t>Decision Tree Classifier</a:t>
            </a:r>
          </a:p>
          <a:p>
            <a:pPr marL="857250" lvl="1" indent="-400050" algn="just">
              <a:lnSpc>
                <a:spcPct val="107000"/>
              </a:lnSpc>
              <a:spcAft>
                <a:spcPts val="800"/>
              </a:spcAft>
              <a:buFont typeface="+mj-lt"/>
              <a:buAutoNum type="romanLcPeriod"/>
            </a:pPr>
            <a:r>
              <a:rPr lang="en-IN" dirty="0">
                <a:effectLst/>
                <a:latin typeface="Arial" panose="020B0604020202020204" pitchFamily="34" charset="0"/>
                <a:ea typeface="Calibri" panose="020F0502020204030204" pitchFamily="34" charset="0"/>
                <a:cs typeface="Arial" panose="020B0604020202020204" pitchFamily="34" charset="0"/>
              </a:rPr>
              <a:t>Random Forest Classifier</a:t>
            </a:r>
          </a:p>
          <a:p>
            <a:pPr marL="857250" lvl="1" indent="-400050" algn="just">
              <a:lnSpc>
                <a:spcPct val="107000"/>
              </a:lnSpc>
              <a:spcAft>
                <a:spcPts val="800"/>
              </a:spcAft>
              <a:buFont typeface="+mj-lt"/>
              <a:buAutoNum type="romanLcPeriod"/>
            </a:pPr>
            <a:r>
              <a:rPr lang="en-IN" dirty="0">
                <a:effectLst/>
                <a:latin typeface="Arial" panose="020B0604020202020204" pitchFamily="34" charset="0"/>
                <a:ea typeface="Calibri" panose="020F0502020204030204" pitchFamily="34" charset="0"/>
                <a:cs typeface="Arial" panose="020B0604020202020204" pitchFamily="34" charset="0"/>
              </a:rPr>
              <a:t>Extra Trees Classifier</a:t>
            </a:r>
            <a:endParaRPr lang="en-IN" dirty="0">
              <a:latin typeface="Arial" panose="020B0604020202020204" pitchFamily="34" charset="0"/>
              <a:ea typeface="Calibri" panose="020F0502020204030204" pitchFamily="34" charset="0"/>
              <a:cs typeface="Arial" panose="020B0604020202020204" pitchFamily="34" charset="0"/>
            </a:endParaRPr>
          </a:p>
          <a:p>
            <a:pPr marL="857250" lvl="1" indent="-400050" algn="just">
              <a:lnSpc>
                <a:spcPct val="107000"/>
              </a:lnSpc>
              <a:spcAft>
                <a:spcPts val="800"/>
              </a:spcAft>
              <a:buFont typeface="+mj-lt"/>
              <a:buAutoNum type="romanLcPeriod"/>
            </a:pPr>
            <a:r>
              <a:rPr lang="en-IN" dirty="0">
                <a:effectLst/>
                <a:latin typeface="Arial" panose="020B0604020202020204" pitchFamily="34" charset="0"/>
                <a:ea typeface="Calibri" panose="020F0502020204030204" pitchFamily="34" charset="0"/>
                <a:cs typeface="Arial" panose="020B0604020202020204" pitchFamily="34" charset="0"/>
              </a:rPr>
              <a:t>Gradient Boosting Classifier</a:t>
            </a:r>
            <a:endParaRPr lang="en-IN" dirty="0">
              <a:latin typeface="Arial" panose="020B0604020202020204" pitchFamily="34" charset="0"/>
              <a:ea typeface="Calibri" panose="020F0502020204030204" pitchFamily="34" charset="0"/>
              <a:cs typeface="Arial" panose="020B0604020202020204" pitchFamily="34" charset="0"/>
            </a:endParaRPr>
          </a:p>
          <a:p>
            <a:pPr marL="857250" lvl="1" indent="-400050" algn="just">
              <a:lnSpc>
                <a:spcPct val="107000"/>
              </a:lnSpc>
              <a:spcAft>
                <a:spcPts val="800"/>
              </a:spcAft>
              <a:buFont typeface="+mj-lt"/>
              <a:buAutoNum type="romanLcPeriod"/>
            </a:pPr>
            <a:r>
              <a:rPr lang="en-IN" dirty="0">
                <a:effectLst/>
                <a:latin typeface="Arial" panose="020B0604020202020204" pitchFamily="34" charset="0"/>
                <a:ea typeface="Calibri" panose="020F0502020204030204" pitchFamily="34" charset="0"/>
                <a:cs typeface="Arial" panose="020B0604020202020204" pitchFamily="34" charset="0"/>
              </a:rPr>
              <a:t>Bagging Classifier</a:t>
            </a:r>
          </a:p>
          <a:p>
            <a:pPr algn="just">
              <a:lnSpc>
                <a:spcPct val="107000"/>
              </a:lnSpc>
              <a:spcAft>
                <a:spcPts val="800"/>
              </a:spcAft>
            </a:pPr>
            <a:endParaRPr lang="en-IN" sz="1800" dirty="0">
              <a:effectLst/>
              <a:latin typeface="Arial" panose="020B060402020202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73737175-12D3-4007-B84E-E038228595D0}"/>
              </a:ext>
            </a:extLst>
          </p:cNvPr>
          <p:cNvSpPr txBox="1"/>
          <p:nvPr/>
        </p:nvSpPr>
        <p:spPr>
          <a:xfrm>
            <a:off x="569167" y="5635690"/>
            <a:ext cx="11224727" cy="923330"/>
          </a:xfrm>
          <a:prstGeom prst="rect">
            <a:avLst/>
          </a:prstGeom>
          <a:noFill/>
        </p:spPr>
        <p:txBody>
          <a:bodyPr wrap="square" rtlCol="0">
            <a:spAutoFit/>
          </a:bodyPr>
          <a:lstStyle/>
          <a:p>
            <a:pPr marL="285750" indent="-285750">
              <a:buFont typeface="Wingdings" panose="05000000000000000000" pitchFamily="2" charset="2"/>
              <a:buChar char="Ø"/>
            </a:pPr>
            <a:r>
              <a:rPr lang="en-IN" sz="1800" dirty="0">
                <a:effectLst/>
                <a:latin typeface="Arial" panose="020B0604020202020204" pitchFamily="34" charset="0"/>
                <a:ea typeface="Calibri" panose="020F0502020204030204" pitchFamily="34" charset="0"/>
                <a:cs typeface="Arial" panose="020B0604020202020204" pitchFamily="34" charset="0"/>
              </a:rPr>
              <a:t>I have got the best ransom state and maximum R2 score and then created train test split to build the above models.</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0718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BF17F-8AAF-9F45-D233-C3C7698DD04C}"/>
              </a:ext>
            </a:extLst>
          </p:cNvPr>
          <p:cNvSpPr>
            <a:spLocks noGrp="1"/>
          </p:cNvSpPr>
          <p:nvPr>
            <p:ph type="title" idx="4294967295"/>
          </p:nvPr>
        </p:nvSpPr>
        <p:spPr>
          <a:xfrm>
            <a:off x="578177" y="268485"/>
            <a:ext cx="2655216" cy="334831"/>
          </a:xfrm>
        </p:spPr>
        <p:txBody>
          <a:bodyPr>
            <a:normAutofit/>
          </a:bodyPr>
          <a:lstStyle/>
          <a:p>
            <a:r>
              <a:rPr lang="en-IN" sz="1800" b="1" u="sng" dirty="0"/>
              <a:t>Decision Tree Classifier</a:t>
            </a:r>
          </a:p>
        </p:txBody>
      </p:sp>
      <p:pic>
        <p:nvPicPr>
          <p:cNvPr id="4" name="Picture 3">
            <a:extLst>
              <a:ext uri="{FF2B5EF4-FFF2-40B4-BE49-F238E27FC236}">
                <a16:creationId xmlns:a16="http://schemas.microsoft.com/office/drawing/2014/main" id="{F7919273-3FC6-015F-A617-1A1BBCB756D4}"/>
              </a:ext>
            </a:extLst>
          </p:cNvPr>
          <p:cNvPicPr>
            <a:picLocks noChangeAspect="1"/>
          </p:cNvPicPr>
          <p:nvPr/>
        </p:nvPicPr>
        <p:blipFill>
          <a:blip r:embed="rId2"/>
          <a:stretch>
            <a:fillRect/>
          </a:stretch>
        </p:blipFill>
        <p:spPr>
          <a:xfrm>
            <a:off x="578177" y="744716"/>
            <a:ext cx="4352042" cy="5395990"/>
          </a:xfrm>
          <a:prstGeom prst="rect">
            <a:avLst/>
          </a:prstGeom>
        </p:spPr>
      </p:pic>
      <p:sp>
        <p:nvSpPr>
          <p:cNvPr id="8" name="TextBox 7">
            <a:extLst>
              <a:ext uri="{FF2B5EF4-FFF2-40B4-BE49-F238E27FC236}">
                <a16:creationId xmlns:a16="http://schemas.microsoft.com/office/drawing/2014/main" id="{160AA024-2D67-DD4F-11C0-690C86257AB0}"/>
              </a:ext>
            </a:extLst>
          </p:cNvPr>
          <p:cNvSpPr txBox="1"/>
          <p:nvPr/>
        </p:nvSpPr>
        <p:spPr>
          <a:xfrm>
            <a:off x="5413343" y="1869658"/>
            <a:ext cx="6094428" cy="1200329"/>
          </a:xfrm>
          <a:prstGeom prst="rect">
            <a:avLst/>
          </a:prstGeom>
          <a:noFill/>
        </p:spPr>
        <p:txBody>
          <a:bodyPr wrap="square">
            <a:spAutoFit/>
          </a:bodyPr>
          <a:lstStyle/>
          <a:p>
            <a:pPr marL="285750" indent="-285750" algn="ctr">
              <a:buFont typeface="Wingdings" panose="05000000000000000000" pitchFamily="2" charset="2"/>
              <a:buChar char="v"/>
            </a:pP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Created Decision Tree Classifier model and checked for its evaluation metrics and it is giving accuracy as 91.47%.</a:t>
            </a:r>
          </a:p>
          <a:p>
            <a:pPr algn="ctr"/>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2473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E1F5C-582A-BCA9-476C-13D3B041E1FE}"/>
              </a:ext>
            </a:extLst>
          </p:cNvPr>
          <p:cNvSpPr>
            <a:spLocks noGrp="1"/>
          </p:cNvSpPr>
          <p:nvPr>
            <p:ph type="title" idx="4294967295"/>
          </p:nvPr>
        </p:nvSpPr>
        <p:spPr>
          <a:xfrm>
            <a:off x="248239" y="174217"/>
            <a:ext cx="3277386" cy="391392"/>
          </a:xfrm>
        </p:spPr>
        <p:txBody>
          <a:bodyPr>
            <a:normAutofit/>
          </a:bodyPr>
          <a:lstStyle/>
          <a:p>
            <a:r>
              <a:rPr lang="en-IN" sz="1800" b="1" u="sng" dirty="0"/>
              <a:t>Random Forest Classifier</a:t>
            </a:r>
          </a:p>
        </p:txBody>
      </p:sp>
      <p:pic>
        <p:nvPicPr>
          <p:cNvPr id="4" name="Picture 3">
            <a:extLst>
              <a:ext uri="{FF2B5EF4-FFF2-40B4-BE49-F238E27FC236}">
                <a16:creationId xmlns:a16="http://schemas.microsoft.com/office/drawing/2014/main" id="{28350E23-E168-5020-6B45-EB5F6B0F84B9}"/>
              </a:ext>
            </a:extLst>
          </p:cNvPr>
          <p:cNvPicPr>
            <a:picLocks noChangeAspect="1"/>
          </p:cNvPicPr>
          <p:nvPr/>
        </p:nvPicPr>
        <p:blipFill>
          <a:blip r:embed="rId2"/>
          <a:stretch>
            <a:fillRect/>
          </a:stretch>
        </p:blipFill>
        <p:spPr>
          <a:xfrm>
            <a:off x="404500" y="565609"/>
            <a:ext cx="4275190" cy="5197290"/>
          </a:xfrm>
          <a:prstGeom prst="rect">
            <a:avLst/>
          </a:prstGeom>
        </p:spPr>
      </p:pic>
      <p:sp>
        <p:nvSpPr>
          <p:cNvPr id="6" name="TextBox 5">
            <a:extLst>
              <a:ext uri="{FF2B5EF4-FFF2-40B4-BE49-F238E27FC236}">
                <a16:creationId xmlns:a16="http://schemas.microsoft.com/office/drawing/2014/main" id="{4DB1E482-DA64-A70E-62F5-089B99CF3450}"/>
              </a:ext>
            </a:extLst>
          </p:cNvPr>
          <p:cNvSpPr txBox="1"/>
          <p:nvPr/>
        </p:nvSpPr>
        <p:spPr>
          <a:xfrm>
            <a:off x="5403916" y="1737683"/>
            <a:ext cx="6094428" cy="1200329"/>
          </a:xfrm>
          <a:prstGeom prst="rect">
            <a:avLst/>
          </a:prstGeom>
          <a:noFill/>
        </p:spPr>
        <p:txBody>
          <a:bodyPr wrap="square">
            <a:spAutoFit/>
          </a:bodyPr>
          <a:lstStyle/>
          <a:p>
            <a:pPr marL="285750" indent="-285750" algn="ctr">
              <a:buFont typeface="Wingdings" panose="05000000000000000000" pitchFamily="2" charset="2"/>
              <a:buChar char="v"/>
            </a:pP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Created </a:t>
            </a:r>
            <a:r>
              <a:rPr lang="en-IN" sz="1800" dirty="0"/>
              <a:t>Random Forest Classifier</a:t>
            </a: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 model and checked for its evaluation metrics and it is giving accuracy as </a:t>
            </a:r>
            <a:r>
              <a:rPr lang="en-IN" dirty="0">
                <a:latin typeface="Arial" panose="020B0604020202020204" pitchFamily="34" charset="0"/>
                <a:ea typeface="Calibri" panose="020F0502020204030204" pitchFamily="34" charset="0"/>
                <a:cs typeface="Arial" panose="020B0604020202020204" pitchFamily="34" charset="0"/>
              </a:rPr>
              <a:t>95.21%</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ctr"/>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56123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1428-4752-54B2-F020-91872F1CB610}"/>
              </a:ext>
            </a:extLst>
          </p:cNvPr>
          <p:cNvSpPr>
            <a:spLocks noGrp="1"/>
          </p:cNvSpPr>
          <p:nvPr>
            <p:ph type="title" idx="4294967295"/>
          </p:nvPr>
        </p:nvSpPr>
        <p:spPr>
          <a:xfrm>
            <a:off x="257666" y="127082"/>
            <a:ext cx="2542095" cy="495087"/>
          </a:xfrm>
        </p:spPr>
        <p:txBody>
          <a:bodyPr>
            <a:normAutofit/>
          </a:bodyPr>
          <a:lstStyle/>
          <a:p>
            <a:r>
              <a:rPr lang="en-IN" sz="1800" b="1" u="sng" dirty="0"/>
              <a:t>Extra Trees Classifier</a:t>
            </a:r>
          </a:p>
        </p:txBody>
      </p:sp>
      <p:pic>
        <p:nvPicPr>
          <p:cNvPr id="4" name="Picture 3">
            <a:extLst>
              <a:ext uri="{FF2B5EF4-FFF2-40B4-BE49-F238E27FC236}">
                <a16:creationId xmlns:a16="http://schemas.microsoft.com/office/drawing/2014/main" id="{DF4A7FBC-AA9C-8562-43AA-93868B06B40D}"/>
              </a:ext>
            </a:extLst>
          </p:cNvPr>
          <p:cNvPicPr>
            <a:picLocks noChangeAspect="1"/>
          </p:cNvPicPr>
          <p:nvPr/>
        </p:nvPicPr>
        <p:blipFill>
          <a:blip r:embed="rId3"/>
          <a:stretch>
            <a:fillRect/>
          </a:stretch>
        </p:blipFill>
        <p:spPr>
          <a:xfrm>
            <a:off x="404104" y="622169"/>
            <a:ext cx="4716886" cy="5542961"/>
          </a:xfrm>
          <a:prstGeom prst="rect">
            <a:avLst/>
          </a:prstGeom>
        </p:spPr>
      </p:pic>
      <p:sp>
        <p:nvSpPr>
          <p:cNvPr id="6" name="TextBox 5">
            <a:extLst>
              <a:ext uri="{FF2B5EF4-FFF2-40B4-BE49-F238E27FC236}">
                <a16:creationId xmlns:a16="http://schemas.microsoft.com/office/drawing/2014/main" id="{D9BD664B-590C-CAA9-2805-AFE20F4C79AA}"/>
              </a:ext>
            </a:extLst>
          </p:cNvPr>
          <p:cNvSpPr txBox="1"/>
          <p:nvPr/>
        </p:nvSpPr>
        <p:spPr>
          <a:xfrm>
            <a:off x="5573599" y="1652842"/>
            <a:ext cx="6094428" cy="923330"/>
          </a:xfrm>
          <a:prstGeom prst="rect">
            <a:avLst/>
          </a:prstGeom>
          <a:noFill/>
        </p:spPr>
        <p:txBody>
          <a:bodyPr wrap="square">
            <a:spAutoFit/>
          </a:bodyPr>
          <a:lstStyle/>
          <a:p>
            <a:pPr marL="285750" indent="-285750" algn="ctr">
              <a:buFont typeface="Wingdings" panose="05000000000000000000" pitchFamily="2" charset="2"/>
              <a:buChar char="v"/>
            </a:pP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Created </a:t>
            </a:r>
            <a:r>
              <a:rPr lang="en-IN" sz="1800" dirty="0"/>
              <a:t>Extra Trees Classifier </a:t>
            </a: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model and checked for its evaluation metrics and it is giving accuracy as </a:t>
            </a:r>
            <a:r>
              <a:rPr lang="en-IN" dirty="0">
                <a:latin typeface="Arial" panose="020B0604020202020204" pitchFamily="34" charset="0"/>
                <a:ea typeface="Calibri" panose="020F0502020204030204" pitchFamily="34" charset="0"/>
                <a:cs typeface="Arial" panose="020B0604020202020204" pitchFamily="34" charset="0"/>
              </a:rPr>
              <a:t>95.93%</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algn="ctr"/>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4296902"/>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B1B53-B380-7414-374F-1CF9B5F9CC93}"/>
              </a:ext>
            </a:extLst>
          </p:cNvPr>
          <p:cNvSpPr>
            <a:spLocks noGrp="1"/>
          </p:cNvSpPr>
          <p:nvPr>
            <p:ph type="title" idx="4294967295"/>
          </p:nvPr>
        </p:nvSpPr>
        <p:spPr>
          <a:xfrm>
            <a:off x="263950" y="131975"/>
            <a:ext cx="5687505" cy="435826"/>
          </a:xfrm>
        </p:spPr>
        <p:txBody>
          <a:bodyPr>
            <a:normAutofit/>
          </a:bodyPr>
          <a:lstStyle/>
          <a:p>
            <a:r>
              <a:rPr lang="en-IN" sz="1800" b="1" u="sng" dirty="0"/>
              <a:t>Gradient Boosting Classifier</a:t>
            </a:r>
          </a:p>
        </p:txBody>
      </p:sp>
      <p:pic>
        <p:nvPicPr>
          <p:cNvPr id="4" name="Picture 3">
            <a:extLst>
              <a:ext uri="{FF2B5EF4-FFF2-40B4-BE49-F238E27FC236}">
                <a16:creationId xmlns:a16="http://schemas.microsoft.com/office/drawing/2014/main" id="{C0872991-E9C3-8253-2D64-CC0625214523}"/>
              </a:ext>
            </a:extLst>
          </p:cNvPr>
          <p:cNvPicPr>
            <a:picLocks noChangeAspect="1"/>
          </p:cNvPicPr>
          <p:nvPr/>
        </p:nvPicPr>
        <p:blipFill>
          <a:blip r:embed="rId2"/>
          <a:stretch>
            <a:fillRect/>
          </a:stretch>
        </p:blipFill>
        <p:spPr>
          <a:xfrm>
            <a:off x="338932" y="567800"/>
            <a:ext cx="4804054" cy="5719877"/>
          </a:xfrm>
          <a:prstGeom prst="rect">
            <a:avLst/>
          </a:prstGeom>
        </p:spPr>
      </p:pic>
      <p:sp>
        <p:nvSpPr>
          <p:cNvPr id="6" name="TextBox 5">
            <a:extLst>
              <a:ext uri="{FF2B5EF4-FFF2-40B4-BE49-F238E27FC236}">
                <a16:creationId xmlns:a16="http://schemas.microsoft.com/office/drawing/2014/main" id="{91162E34-4EE1-1633-682A-A0A7B1071819}"/>
              </a:ext>
            </a:extLst>
          </p:cNvPr>
          <p:cNvSpPr txBox="1"/>
          <p:nvPr/>
        </p:nvSpPr>
        <p:spPr>
          <a:xfrm>
            <a:off x="5300221" y="1524487"/>
            <a:ext cx="6094428" cy="923330"/>
          </a:xfrm>
          <a:prstGeom prst="rect">
            <a:avLst/>
          </a:prstGeom>
          <a:noFill/>
        </p:spPr>
        <p:txBody>
          <a:bodyPr wrap="square">
            <a:spAutoFit/>
          </a:bodyPr>
          <a:lstStyle/>
          <a:p>
            <a:pPr marL="285750" indent="-285750" algn="ctr">
              <a:buFont typeface="Wingdings" panose="05000000000000000000" pitchFamily="2" charset="2"/>
              <a:buChar char="v"/>
            </a:pP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Created </a:t>
            </a:r>
            <a:r>
              <a:rPr lang="en-IN" sz="1800" dirty="0"/>
              <a:t>Gradient Boosting Classifier </a:t>
            </a: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model and checked for its evaluation metrics and it is giving accuracy as </a:t>
            </a:r>
            <a:r>
              <a:rPr lang="en-IN" dirty="0">
                <a:latin typeface="Arial" panose="020B0604020202020204" pitchFamily="34" charset="0"/>
                <a:ea typeface="Calibri" panose="020F0502020204030204" pitchFamily="34" charset="0"/>
                <a:cs typeface="Arial" panose="020B0604020202020204" pitchFamily="34" charset="0"/>
              </a:rPr>
              <a:t>90.25%</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193024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2247-7FFB-B5DA-9C45-0672EF11CC3F}"/>
              </a:ext>
            </a:extLst>
          </p:cNvPr>
          <p:cNvSpPr>
            <a:spLocks noGrp="1"/>
          </p:cNvSpPr>
          <p:nvPr>
            <p:ph type="title" idx="4294967295"/>
          </p:nvPr>
        </p:nvSpPr>
        <p:spPr>
          <a:xfrm>
            <a:off x="292231" y="235670"/>
            <a:ext cx="4971068" cy="379265"/>
          </a:xfrm>
        </p:spPr>
        <p:txBody>
          <a:bodyPr>
            <a:normAutofit/>
          </a:bodyPr>
          <a:lstStyle/>
          <a:p>
            <a:r>
              <a:rPr lang="en-IN" sz="1800" b="1" u="sng" dirty="0">
                <a:latin typeface="Arial" panose="020B0604020202020204" pitchFamily="34" charset="0"/>
                <a:cs typeface="Arial" panose="020B0604020202020204" pitchFamily="34" charset="0"/>
              </a:rPr>
              <a:t>Bagging Classifier</a:t>
            </a:r>
          </a:p>
        </p:txBody>
      </p:sp>
      <p:pic>
        <p:nvPicPr>
          <p:cNvPr id="4" name="Picture 3">
            <a:extLst>
              <a:ext uri="{FF2B5EF4-FFF2-40B4-BE49-F238E27FC236}">
                <a16:creationId xmlns:a16="http://schemas.microsoft.com/office/drawing/2014/main" id="{98977517-9447-DCDB-1113-5650AD5A2A96}"/>
              </a:ext>
            </a:extLst>
          </p:cNvPr>
          <p:cNvPicPr>
            <a:picLocks noChangeAspect="1"/>
          </p:cNvPicPr>
          <p:nvPr/>
        </p:nvPicPr>
        <p:blipFill>
          <a:blip r:embed="rId2"/>
          <a:stretch>
            <a:fillRect/>
          </a:stretch>
        </p:blipFill>
        <p:spPr>
          <a:xfrm>
            <a:off x="292231" y="694768"/>
            <a:ext cx="4651639" cy="5611764"/>
          </a:xfrm>
          <a:prstGeom prst="rect">
            <a:avLst/>
          </a:prstGeom>
        </p:spPr>
      </p:pic>
      <p:sp>
        <p:nvSpPr>
          <p:cNvPr id="6" name="TextBox 5">
            <a:extLst>
              <a:ext uri="{FF2B5EF4-FFF2-40B4-BE49-F238E27FC236}">
                <a16:creationId xmlns:a16="http://schemas.microsoft.com/office/drawing/2014/main" id="{CA4BC298-8BB1-1293-8C61-481B478EA254}"/>
              </a:ext>
            </a:extLst>
          </p:cNvPr>
          <p:cNvSpPr txBox="1"/>
          <p:nvPr/>
        </p:nvSpPr>
        <p:spPr>
          <a:xfrm>
            <a:off x="5263299" y="1829047"/>
            <a:ext cx="6094428" cy="646331"/>
          </a:xfrm>
          <a:prstGeom prst="rect">
            <a:avLst/>
          </a:prstGeom>
          <a:noFill/>
        </p:spPr>
        <p:txBody>
          <a:bodyPr wrap="square">
            <a:spAutoFit/>
          </a:bodyPr>
          <a:lstStyle/>
          <a:p>
            <a:pPr marL="285750" indent="-285750" algn="ctr">
              <a:buFont typeface="Wingdings" panose="05000000000000000000" pitchFamily="2" charset="2"/>
              <a:buChar char="v"/>
            </a:pP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Created </a:t>
            </a:r>
            <a:r>
              <a:rPr lang="en-IN" sz="1800" dirty="0">
                <a:latin typeface="Arial" panose="020B0604020202020204" pitchFamily="34" charset="0"/>
                <a:cs typeface="Arial" panose="020B0604020202020204" pitchFamily="34" charset="0"/>
              </a:rPr>
              <a:t>Bagging Classifier</a:t>
            </a:r>
            <a:r>
              <a:rPr lang="en-IN" sz="1800" dirty="0"/>
              <a:t> </a:t>
            </a:r>
            <a:r>
              <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rPr>
              <a:t>model and checked for its evaluation metrics and it is giving accuracy as </a:t>
            </a:r>
            <a:r>
              <a:rPr lang="en-IN" dirty="0">
                <a:latin typeface="Arial" panose="020B0604020202020204" pitchFamily="34" charset="0"/>
                <a:ea typeface="Calibri" panose="020F0502020204030204" pitchFamily="34" charset="0"/>
                <a:cs typeface="Arial" panose="020B0604020202020204" pitchFamily="34" charset="0"/>
              </a:rPr>
              <a:t>94.18%</a:t>
            </a:r>
            <a:endParaRPr lang="en-IN"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78274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D7BE-E008-F509-3F3C-A46D300E1CFD}"/>
              </a:ext>
            </a:extLst>
          </p:cNvPr>
          <p:cNvSpPr>
            <a:spLocks noGrp="1"/>
          </p:cNvSpPr>
          <p:nvPr>
            <p:ph type="title" idx="4294967295"/>
          </p:nvPr>
        </p:nvSpPr>
        <p:spPr>
          <a:xfrm>
            <a:off x="3770721" y="169682"/>
            <a:ext cx="3764437" cy="596082"/>
          </a:xfrm>
        </p:spPr>
        <p:txBody>
          <a:bodyPr>
            <a:normAutofit/>
          </a:bodyPr>
          <a:lstStyle/>
          <a:p>
            <a:pPr algn="ctr"/>
            <a:r>
              <a:rPr lang="en-IN" sz="2800" b="1" dirty="0"/>
              <a:t>Hyperparameter Tuning</a:t>
            </a:r>
          </a:p>
        </p:txBody>
      </p:sp>
      <p:sp>
        <p:nvSpPr>
          <p:cNvPr id="8" name="TextBox 7">
            <a:extLst>
              <a:ext uri="{FF2B5EF4-FFF2-40B4-BE49-F238E27FC236}">
                <a16:creationId xmlns:a16="http://schemas.microsoft.com/office/drawing/2014/main" id="{A83BB80C-2A00-9C99-15E3-6841F2138CAA}"/>
              </a:ext>
            </a:extLst>
          </p:cNvPr>
          <p:cNvSpPr txBox="1"/>
          <p:nvPr/>
        </p:nvSpPr>
        <p:spPr>
          <a:xfrm>
            <a:off x="467882" y="820995"/>
            <a:ext cx="10370113" cy="861133"/>
          </a:xfrm>
          <a:prstGeom prst="rect">
            <a:avLst/>
          </a:prstGeom>
          <a:noFill/>
        </p:spPr>
        <p:txBody>
          <a:bodyPr wrap="square">
            <a:spAutoFit/>
          </a:bodyPr>
          <a:lstStyle/>
          <a:p>
            <a:pPr algn="just">
              <a:lnSpc>
                <a:spcPct val="107000"/>
              </a:lnSpc>
              <a:spcAft>
                <a:spcPts val="800"/>
              </a:spcAft>
            </a:pPr>
            <a:r>
              <a:rPr lang="en-IN" sz="1600" dirty="0">
                <a:effectLst/>
                <a:latin typeface="Arial" panose="020B0604020202020204" pitchFamily="34" charset="0"/>
                <a:ea typeface="Calibri" panose="020F0502020204030204" pitchFamily="34" charset="0"/>
                <a:cs typeface="Arial" panose="020B0604020202020204" pitchFamily="34" charset="0"/>
              </a:rPr>
              <a:t>From the difference between accuracy and cross validation score, Gradient Boosting Classifier has least difference compared to other models. So, we can conclude that Gradient Boosting Classifier as our best fitting model. Performed Hyperparameter tuning to increase the best model accuracy.</a:t>
            </a:r>
          </a:p>
        </p:txBody>
      </p:sp>
      <p:pic>
        <p:nvPicPr>
          <p:cNvPr id="10" name="Picture 9">
            <a:extLst>
              <a:ext uri="{FF2B5EF4-FFF2-40B4-BE49-F238E27FC236}">
                <a16:creationId xmlns:a16="http://schemas.microsoft.com/office/drawing/2014/main" id="{B3D72F00-4449-CD0D-05BB-D66AC0454548}"/>
              </a:ext>
            </a:extLst>
          </p:cNvPr>
          <p:cNvPicPr>
            <a:picLocks noChangeAspect="1"/>
          </p:cNvPicPr>
          <p:nvPr/>
        </p:nvPicPr>
        <p:blipFill>
          <a:blip r:embed="rId2"/>
          <a:stretch>
            <a:fillRect/>
          </a:stretch>
        </p:blipFill>
        <p:spPr>
          <a:xfrm>
            <a:off x="467882" y="1616140"/>
            <a:ext cx="6104149" cy="4618120"/>
          </a:xfrm>
          <a:prstGeom prst="rect">
            <a:avLst/>
          </a:prstGeom>
        </p:spPr>
      </p:pic>
      <p:sp>
        <p:nvSpPr>
          <p:cNvPr id="13" name="TextBox 12">
            <a:extLst>
              <a:ext uri="{FF2B5EF4-FFF2-40B4-BE49-F238E27FC236}">
                <a16:creationId xmlns:a16="http://schemas.microsoft.com/office/drawing/2014/main" id="{91EA1A71-4398-BF3F-582F-089F1DD971F1}"/>
              </a:ext>
            </a:extLst>
          </p:cNvPr>
          <p:cNvSpPr txBox="1"/>
          <p:nvPr/>
        </p:nvSpPr>
        <p:spPr>
          <a:xfrm>
            <a:off x="6730269" y="2754452"/>
            <a:ext cx="4993849" cy="1549848"/>
          </a:xfrm>
          <a:prstGeom prst="rect">
            <a:avLst/>
          </a:prstGeom>
          <a:noFill/>
        </p:spPr>
        <p:txBody>
          <a:bodyPr wrap="square">
            <a:spAutoFit/>
          </a:bodyPr>
          <a:lstStyle/>
          <a:p>
            <a:pPr marL="285750" indent="-285750" algn="ctr">
              <a:lnSpc>
                <a:spcPct val="107000"/>
              </a:lnSpc>
              <a:spcAft>
                <a:spcPts val="800"/>
              </a:spcAft>
              <a:buFont typeface="Wingdings" panose="05000000000000000000" pitchFamily="2" charset="2"/>
              <a:buChar char="v"/>
            </a:pPr>
            <a:r>
              <a:rPr lang="en-IN" sz="1800" dirty="0">
                <a:solidFill>
                  <a:schemeClr val="tx1"/>
                </a:solidFill>
                <a:effectLst/>
                <a:latin typeface="Century" panose="02040604050505020304" pitchFamily="18" charset="0"/>
                <a:ea typeface="Calibri" panose="020F0502020204030204" pitchFamily="34" charset="0"/>
                <a:cs typeface="Calibri" panose="020F0502020204030204" pitchFamily="34" charset="0"/>
              </a:rPr>
              <a:t>I have used </a:t>
            </a:r>
            <a:r>
              <a:rPr lang="en-IN" sz="1800" dirty="0" err="1">
                <a:solidFill>
                  <a:schemeClr val="tx1"/>
                </a:solidFill>
                <a:effectLst/>
                <a:latin typeface="Century" panose="02040604050505020304" pitchFamily="18" charset="0"/>
                <a:ea typeface="Calibri" panose="020F0502020204030204" pitchFamily="34" charset="0"/>
                <a:cs typeface="Calibri" panose="020F0502020204030204" pitchFamily="34" charset="0"/>
              </a:rPr>
              <a:t>RandomizedSearchCV</a:t>
            </a:r>
            <a:r>
              <a:rPr lang="en-IN" sz="1800" dirty="0">
                <a:solidFill>
                  <a:schemeClr val="tx1"/>
                </a:solidFill>
                <a:effectLst/>
                <a:latin typeface="Century" panose="02040604050505020304" pitchFamily="18" charset="0"/>
                <a:ea typeface="Calibri" panose="020F0502020204030204" pitchFamily="34" charset="0"/>
                <a:cs typeface="Calibri" panose="020F0502020204030204" pitchFamily="34" charset="0"/>
              </a:rPr>
              <a:t> to get the best parameters of Gradient Boosting Classifier. And used all the obtained best parameters to create the accuracy of final model.</a:t>
            </a:r>
            <a:endParaRPr lang="en-IN" sz="1800" dirty="0">
              <a:solidFill>
                <a:schemeClr val="tx1"/>
              </a:solidFill>
              <a:effectLst/>
              <a:latin typeface="Century" panose="020406040505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5371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B18B5A-3638-251E-7C27-BF71C30502A2}"/>
              </a:ext>
            </a:extLst>
          </p:cNvPr>
          <p:cNvSpPr txBox="1"/>
          <p:nvPr/>
        </p:nvSpPr>
        <p:spPr>
          <a:xfrm>
            <a:off x="388856" y="343235"/>
            <a:ext cx="6094428" cy="523220"/>
          </a:xfrm>
          <a:prstGeom prst="rect">
            <a:avLst/>
          </a:prstGeom>
          <a:noFill/>
        </p:spPr>
        <p:txBody>
          <a:bodyPr wrap="square">
            <a:spAutoFit/>
          </a:bodyPr>
          <a:lstStyle/>
          <a:p>
            <a:r>
              <a:rPr lang="en-IN" sz="2800" dirty="0"/>
              <a:t>Creating Final Model After Tuning:</a:t>
            </a:r>
          </a:p>
        </p:txBody>
      </p:sp>
      <p:sp>
        <p:nvSpPr>
          <p:cNvPr id="6" name="TextBox 5">
            <a:extLst>
              <a:ext uri="{FF2B5EF4-FFF2-40B4-BE49-F238E27FC236}">
                <a16:creationId xmlns:a16="http://schemas.microsoft.com/office/drawing/2014/main" id="{1421869D-D3C3-D56D-1EB9-ED1DF22888E0}"/>
              </a:ext>
            </a:extLst>
          </p:cNvPr>
          <p:cNvSpPr txBox="1"/>
          <p:nvPr/>
        </p:nvSpPr>
        <p:spPr>
          <a:xfrm>
            <a:off x="388856" y="1009036"/>
            <a:ext cx="5182385" cy="4422301"/>
          </a:xfrm>
          <a:prstGeom prst="rect">
            <a:avLst/>
          </a:prstGeom>
          <a:noFill/>
        </p:spPr>
        <p:txBody>
          <a:bodyPr wrap="square">
            <a:spAutoFit/>
          </a:bodyPr>
          <a:lstStyle/>
          <a:p>
            <a:pPr marL="285750" lvl="0" indent="-285750" algn="just">
              <a:lnSpc>
                <a:spcPct val="107000"/>
              </a:lnSpc>
              <a:spcAft>
                <a:spcPts val="800"/>
              </a:spcAft>
              <a:buFont typeface="Wingdings" panose="05000000000000000000" pitchFamily="2" charset="2"/>
              <a:buChar char="v"/>
            </a:pPr>
            <a:r>
              <a:rPr lang="en-US" b="0" i="0" dirty="0">
                <a:solidFill>
                  <a:schemeClr val="tx1"/>
                </a:solidFill>
                <a:effectLst/>
                <a:latin typeface="Century" panose="02040604050505020304" pitchFamily="18" charset="0"/>
              </a:rPr>
              <a:t>I have successfully incorporated the hyper parameter tuning using best parameters of </a:t>
            </a:r>
            <a:r>
              <a:rPr lang="en-US" b="0" i="0" dirty="0" err="1">
                <a:solidFill>
                  <a:schemeClr val="tx1"/>
                </a:solidFill>
                <a:effectLst/>
                <a:latin typeface="Century" panose="02040604050505020304" pitchFamily="18" charset="0"/>
              </a:rPr>
              <a:t>GradientBoostingClassifier</a:t>
            </a:r>
            <a:r>
              <a:rPr lang="en-US" b="0" i="0" dirty="0">
                <a:solidFill>
                  <a:schemeClr val="tx1"/>
                </a:solidFill>
                <a:effectLst/>
                <a:latin typeface="Century" panose="02040604050505020304" pitchFamily="18" charset="0"/>
              </a:rPr>
              <a:t> and the accuracy of the model has been increased by 4.73% after hyperparameter tuning and received the accuracy score as 94.98% which is very good.</a:t>
            </a:r>
            <a:endParaRPr lang="en-US" dirty="0">
              <a:latin typeface="Century" panose="02040604050505020304" pitchFamily="18" charset="0"/>
            </a:endParaRPr>
          </a:p>
          <a:p>
            <a:pPr marL="285750" lvl="0" indent="-285750" algn="just">
              <a:lnSpc>
                <a:spcPct val="107000"/>
              </a:lnSpc>
              <a:spcAft>
                <a:spcPts val="800"/>
              </a:spcAft>
              <a:buFont typeface="Wingdings" panose="05000000000000000000" pitchFamily="2" charset="2"/>
              <a:buChar char="v"/>
            </a:pPr>
            <a:endParaRPr lang="en-US" b="0" i="0" dirty="0">
              <a:solidFill>
                <a:schemeClr val="tx1"/>
              </a:solidFill>
              <a:effectLst/>
              <a:latin typeface="Century" panose="02040604050505020304" pitchFamily="18" charset="0"/>
            </a:endParaRPr>
          </a:p>
          <a:p>
            <a:pPr marL="285750" lvl="0" indent="-285750" algn="just">
              <a:lnSpc>
                <a:spcPct val="107000"/>
              </a:lnSpc>
              <a:spcAft>
                <a:spcPts val="800"/>
              </a:spcAft>
              <a:buFont typeface="Wingdings" panose="05000000000000000000" pitchFamily="2" charset="2"/>
              <a:buChar char="v"/>
            </a:pPr>
            <a:r>
              <a:rPr lang="en-US" b="0" i="0" dirty="0">
                <a:solidFill>
                  <a:schemeClr val="tx1"/>
                </a:solidFill>
                <a:effectLst/>
                <a:latin typeface="Century" panose="02040604050505020304" pitchFamily="18" charset="0"/>
              </a:rPr>
              <a:t>With the help of confusion matrix we can able to see actual and predicted values for the final model. And also we can understand the number of times we got the correct outputs and the number of times my model missed to provide the correct prediction</a:t>
            </a:r>
            <a:endParaRPr lang="en-IN" sz="1800" b="1" dirty="0">
              <a:solidFill>
                <a:schemeClr val="tx1"/>
              </a:solidFill>
              <a:effectLst/>
              <a:latin typeface="Century" panose="02040604050505020304" pitchFamily="18"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2DFCBA46-62D5-6410-DAD3-1AC449003330}"/>
              </a:ext>
            </a:extLst>
          </p:cNvPr>
          <p:cNvPicPr>
            <a:picLocks noChangeAspect="1"/>
          </p:cNvPicPr>
          <p:nvPr/>
        </p:nvPicPr>
        <p:blipFill>
          <a:blip r:embed="rId2"/>
          <a:stretch>
            <a:fillRect/>
          </a:stretch>
        </p:blipFill>
        <p:spPr>
          <a:xfrm>
            <a:off x="5571241" y="1176857"/>
            <a:ext cx="6378493" cy="922100"/>
          </a:xfrm>
          <a:prstGeom prst="rect">
            <a:avLst/>
          </a:prstGeom>
        </p:spPr>
      </p:pic>
      <p:pic>
        <p:nvPicPr>
          <p:cNvPr id="14338" name="Picture 2">
            <a:extLst>
              <a:ext uri="{FF2B5EF4-FFF2-40B4-BE49-F238E27FC236}">
                <a16:creationId xmlns:a16="http://schemas.microsoft.com/office/drawing/2014/main" id="{0A72E59C-B3F3-2A6A-D6AB-8C6330200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0761" y="2494201"/>
            <a:ext cx="3077456" cy="3119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226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6B9103-6E85-7868-86E9-5F177E8E4757}"/>
              </a:ext>
            </a:extLst>
          </p:cNvPr>
          <p:cNvSpPr txBox="1"/>
          <p:nvPr/>
        </p:nvSpPr>
        <p:spPr>
          <a:xfrm>
            <a:off x="398283" y="314954"/>
            <a:ext cx="6094428" cy="461665"/>
          </a:xfrm>
          <a:prstGeom prst="rect">
            <a:avLst/>
          </a:prstGeom>
          <a:noFill/>
        </p:spPr>
        <p:txBody>
          <a:bodyPr wrap="square">
            <a:spAutoFit/>
          </a:bodyPr>
          <a:lstStyle/>
          <a:p>
            <a:pPr algn="r"/>
            <a:r>
              <a:rPr lang="en-IN" sz="2400" dirty="0"/>
              <a:t>Saving The Model</a:t>
            </a:r>
          </a:p>
        </p:txBody>
      </p:sp>
      <p:pic>
        <p:nvPicPr>
          <p:cNvPr id="6" name="Picture 5">
            <a:extLst>
              <a:ext uri="{FF2B5EF4-FFF2-40B4-BE49-F238E27FC236}">
                <a16:creationId xmlns:a16="http://schemas.microsoft.com/office/drawing/2014/main" id="{9AABC8D0-8C18-5549-B27E-182DFA973620}"/>
              </a:ext>
            </a:extLst>
          </p:cNvPr>
          <p:cNvPicPr>
            <a:picLocks noChangeAspect="1"/>
          </p:cNvPicPr>
          <p:nvPr/>
        </p:nvPicPr>
        <p:blipFill>
          <a:blip r:embed="rId2"/>
          <a:stretch>
            <a:fillRect/>
          </a:stretch>
        </p:blipFill>
        <p:spPr>
          <a:xfrm>
            <a:off x="1520094" y="776619"/>
            <a:ext cx="8302635" cy="4494847"/>
          </a:xfrm>
          <a:prstGeom prst="rect">
            <a:avLst/>
          </a:prstGeom>
        </p:spPr>
      </p:pic>
      <p:sp>
        <p:nvSpPr>
          <p:cNvPr id="8" name="TextBox 7">
            <a:extLst>
              <a:ext uri="{FF2B5EF4-FFF2-40B4-BE49-F238E27FC236}">
                <a16:creationId xmlns:a16="http://schemas.microsoft.com/office/drawing/2014/main" id="{77401763-A2DC-6990-B72E-A36471C34A38}"/>
              </a:ext>
            </a:extLst>
          </p:cNvPr>
          <p:cNvSpPr txBox="1"/>
          <p:nvPr/>
        </p:nvSpPr>
        <p:spPr>
          <a:xfrm>
            <a:off x="520832" y="5376303"/>
            <a:ext cx="11065473" cy="830997"/>
          </a:xfrm>
          <a:prstGeom prst="rect">
            <a:avLst/>
          </a:prstGeom>
          <a:noFill/>
        </p:spPr>
        <p:txBody>
          <a:bodyPr wrap="square">
            <a:spAutoFit/>
          </a:bodyPr>
          <a:lstStyle/>
          <a:p>
            <a:pPr marL="285750" indent="-285750" algn="just">
              <a:buFont typeface="Arial" panose="020B0604020202020204" pitchFamily="34" charset="0"/>
              <a:buChar char="•"/>
            </a:pPr>
            <a:r>
              <a:rPr lang="en-IN" sz="1600" dirty="0">
                <a:effectLst/>
                <a:latin typeface="Arial" panose="020B0604020202020204" pitchFamily="34" charset="0"/>
                <a:ea typeface="Calibri" panose="020F0502020204030204" pitchFamily="34" charset="0"/>
                <a:cs typeface="Arial" panose="020B0604020202020204" pitchFamily="34" charset="0"/>
              </a:rPr>
              <a:t>I have saved my final best model using </a:t>
            </a:r>
            <a:r>
              <a:rPr lang="en-IN" sz="1600" dirty="0" err="1">
                <a:effectLst/>
                <a:latin typeface="Arial" panose="020B0604020202020204" pitchFamily="34" charset="0"/>
                <a:ea typeface="Calibri" panose="020F0502020204030204" pitchFamily="34" charset="0"/>
                <a:cs typeface="Arial" panose="020B0604020202020204" pitchFamily="34" charset="0"/>
              </a:rPr>
              <a:t>joblib</a:t>
            </a:r>
            <a:r>
              <a:rPr lang="en-IN" sz="1600" dirty="0">
                <a:effectLst/>
                <a:latin typeface="Arial" panose="020B0604020202020204" pitchFamily="34" charset="0"/>
                <a:ea typeface="Calibri" panose="020F0502020204030204" pitchFamily="34" charset="0"/>
                <a:cs typeface="Arial" panose="020B0604020202020204" pitchFamily="34" charset="0"/>
              </a:rPr>
              <a:t> library in .</a:t>
            </a:r>
            <a:r>
              <a:rPr lang="en-IN" sz="1600" dirty="0" err="1">
                <a:effectLst/>
                <a:latin typeface="Arial" panose="020B0604020202020204" pitchFamily="34" charset="0"/>
                <a:ea typeface="Calibri" panose="020F0502020204030204" pitchFamily="34" charset="0"/>
                <a:cs typeface="Arial" panose="020B0604020202020204" pitchFamily="34" charset="0"/>
              </a:rPr>
              <a:t>pkl</a:t>
            </a:r>
            <a:r>
              <a:rPr lang="en-IN" sz="1600" dirty="0">
                <a:effectLst/>
                <a:latin typeface="Arial" panose="020B0604020202020204" pitchFamily="34" charset="0"/>
                <a:ea typeface="Calibri" panose="020F0502020204030204" pitchFamily="34" charset="0"/>
                <a:cs typeface="Arial" panose="020B0604020202020204" pitchFamily="34" charset="0"/>
              </a:rPr>
              <a:t> format, and loaded saved model for predictions. </a:t>
            </a:r>
          </a:p>
          <a:p>
            <a:pPr marL="285750" indent="-285750" algn="just">
              <a:buFont typeface="Arial" panose="020B0604020202020204" pitchFamily="34" charset="0"/>
              <a:buChar char="•"/>
            </a:pPr>
            <a:r>
              <a:rPr lang="en-US" sz="1600" dirty="0">
                <a:effectLst/>
                <a:latin typeface="Arial" panose="020B0604020202020204" pitchFamily="34" charset="0"/>
                <a:ea typeface="Calibri" panose="020F0502020204030204" pitchFamily="34" charset="0"/>
                <a:cs typeface="Arial" panose="020B0604020202020204" pitchFamily="34" charset="0"/>
              </a:rPr>
              <a:t>Using classification model, we have got the predicted values for micro credit loans for defaulters and non-defaulters. From the predictions we can notice both actual values and predicted values are almost same.</a:t>
            </a:r>
            <a:endParaRPr lang="en-IN" sz="16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96383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A251-7F21-473F-ED6A-F522C195F590}"/>
              </a:ext>
            </a:extLst>
          </p:cNvPr>
          <p:cNvSpPr>
            <a:spLocks noGrp="1"/>
          </p:cNvSpPr>
          <p:nvPr>
            <p:ph type="title"/>
          </p:nvPr>
        </p:nvSpPr>
        <p:spPr/>
        <p:txBody>
          <a:bodyPr/>
          <a:lstStyle/>
          <a:p>
            <a:r>
              <a:rPr lang="en-IN" dirty="0"/>
              <a:t>Conclusion</a:t>
            </a:r>
          </a:p>
        </p:txBody>
      </p:sp>
      <p:sp>
        <p:nvSpPr>
          <p:cNvPr id="4" name="TextBox 3">
            <a:extLst>
              <a:ext uri="{FF2B5EF4-FFF2-40B4-BE49-F238E27FC236}">
                <a16:creationId xmlns:a16="http://schemas.microsoft.com/office/drawing/2014/main" id="{C1C2F2E9-AEBC-7DFD-1445-C09A3180B2D0}"/>
              </a:ext>
            </a:extLst>
          </p:cNvPr>
          <p:cNvSpPr txBox="1"/>
          <p:nvPr/>
        </p:nvSpPr>
        <p:spPr>
          <a:xfrm>
            <a:off x="1066800" y="1737360"/>
            <a:ext cx="10058400" cy="4524315"/>
          </a:xfrm>
          <a:prstGeom prst="rect">
            <a:avLst/>
          </a:prstGeom>
          <a:noFill/>
        </p:spPr>
        <p:txBody>
          <a:bodyPr wrap="square">
            <a:spAutoFit/>
          </a:bodyPr>
          <a:lstStyle/>
          <a:p>
            <a:pPr marL="285750" indent="-285750">
              <a:buFont typeface="Wingdings" panose="05000000000000000000" pitchFamily="2" charset="2"/>
              <a:buChar char="§"/>
            </a:pPr>
            <a:r>
              <a:rPr lang="en-IN" dirty="0"/>
              <a:t>This case study aims to give an idea of applying EDA in a real business scenario. In this case study, apart from applying the techniques that we have learnt in the EDA module, we will also develop a basic understanding of risk analytics in banking and financial services and understand how data is used to minimize the risk of losing money while lending to customers.</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From this dataset we were able to understand that the selection of customers for the credit to know whether they are defaulters or non-defaulters are done on the basis of different features. </a:t>
            </a:r>
          </a:p>
          <a:p>
            <a:endParaRPr lang="en-IN" dirty="0"/>
          </a:p>
          <a:p>
            <a:pPr marL="285750" indent="-285750">
              <a:buFont typeface="Wingdings" panose="05000000000000000000" pitchFamily="2" charset="2"/>
              <a:buChar char="§"/>
            </a:pPr>
            <a:r>
              <a:rPr lang="en-IN" dirty="0"/>
              <a:t>First, we loaded the dataset and have done data cleaning and EDA process and pre-processing techniques like checking outliers, skewness, correlation, scaling data etc and got better insights from data visualization.</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dirty="0"/>
              <a:t>Then we did the model training, building the model and finding out the best model on the basis of different metrices like Accuracy Score, Cross Validation Score, </a:t>
            </a:r>
            <a:r>
              <a:rPr lang="en-IN" dirty="0" err="1"/>
              <a:t>roc_auc_score</a:t>
            </a:r>
            <a:r>
              <a:rPr lang="en-IN" dirty="0"/>
              <a:t>, precision, recall, f1score etc. We tried ensemble techniques like Random Forest Classifier, Extra Trees Classifier, </a:t>
            </a:r>
            <a:r>
              <a:rPr lang="en-IN" dirty="0" err="1"/>
              <a:t>GradientBoosting</a:t>
            </a:r>
            <a:r>
              <a:rPr lang="en-IN" dirty="0"/>
              <a:t> Classifier, Bagging Classifier etc and some other models like Decision Tree Classifier</a:t>
            </a:r>
          </a:p>
        </p:txBody>
      </p:sp>
    </p:spTree>
    <p:extLst>
      <p:ext uri="{BB962C8B-B14F-4D97-AF65-F5344CB8AC3E}">
        <p14:creationId xmlns:p14="http://schemas.microsoft.com/office/powerpoint/2010/main" val="1899639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BF188-479E-6787-66FC-2A07C9602010}"/>
              </a:ext>
            </a:extLst>
          </p:cNvPr>
          <p:cNvSpPr>
            <a:spLocks noGrp="1"/>
          </p:cNvSpPr>
          <p:nvPr>
            <p:ph type="title"/>
          </p:nvPr>
        </p:nvSpPr>
        <p:spPr/>
        <p:txBody>
          <a:bodyPr/>
          <a:lstStyle/>
          <a:p>
            <a:r>
              <a:rPr lang="en-US" dirty="0"/>
              <a:t>Cont..</a:t>
            </a:r>
            <a:endParaRPr lang="en-IN" dirty="0"/>
          </a:p>
        </p:txBody>
      </p:sp>
      <p:sp>
        <p:nvSpPr>
          <p:cNvPr id="4" name="TextBox 3">
            <a:extLst>
              <a:ext uri="{FF2B5EF4-FFF2-40B4-BE49-F238E27FC236}">
                <a16:creationId xmlns:a16="http://schemas.microsoft.com/office/drawing/2014/main" id="{C49037CB-53C4-1454-AC90-9C36811101EE}"/>
              </a:ext>
            </a:extLst>
          </p:cNvPr>
          <p:cNvSpPr txBox="1"/>
          <p:nvPr/>
        </p:nvSpPr>
        <p:spPr>
          <a:xfrm>
            <a:off x="1187776" y="1970202"/>
            <a:ext cx="9766169" cy="3416320"/>
          </a:xfrm>
          <a:prstGeom prst="rect">
            <a:avLst/>
          </a:prstGeom>
          <a:noFill/>
        </p:spPr>
        <p:txBody>
          <a:bodyPr wrap="square">
            <a:spAutoFit/>
          </a:bodyPr>
          <a:lstStyle/>
          <a:p>
            <a:pPr marL="285750" indent="-285750">
              <a:buFont typeface="Wingdings" panose="05000000000000000000" pitchFamily="2" charset="2"/>
              <a:buChar char="§"/>
            </a:pPr>
            <a:r>
              <a:rPr lang="en-IN" sz="1800" dirty="0"/>
              <a:t>We got </a:t>
            </a:r>
            <a:r>
              <a:rPr lang="en-IN" sz="1800" dirty="0" err="1"/>
              <a:t>GradientBoosting</a:t>
            </a:r>
            <a:r>
              <a:rPr lang="en-IN" sz="1800" dirty="0"/>
              <a:t> Classifier as the best model among all the models as it gave least difference of accuracy and cross validation score. On this basis we performed the Hyperparameter tuning to finding out the best parameter and improving the scores. The accuracy score increased after tuning. So we concluded that </a:t>
            </a:r>
            <a:r>
              <a:rPr lang="en-IN" sz="1800" dirty="0" err="1"/>
              <a:t>GradientBoosting</a:t>
            </a:r>
            <a:r>
              <a:rPr lang="en-IN" sz="1800" dirty="0"/>
              <a:t> Classifier as the best algorithm as it was giving high accuracy and AUC after tuning. </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sz="1800" dirty="0"/>
              <a:t>After that we saved the model in a pickle with a filename in order to use whenever we require. Then we loaded the saved file and predicted the values.</a:t>
            </a:r>
          </a:p>
          <a:p>
            <a:pPr marL="285750" indent="-285750">
              <a:buFont typeface="Wingdings" panose="05000000000000000000" pitchFamily="2" charset="2"/>
              <a:buChar char="§"/>
            </a:pPr>
            <a:endParaRPr lang="en-IN" dirty="0"/>
          </a:p>
          <a:p>
            <a:pPr marL="285750" indent="-285750">
              <a:buFont typeface="Wingdings" panose="05000000000000000000" pitchFamily="2" charset="2"/>
              <a:buChar char="§"/>
            </a:pPr>
            <a:r>
              <a:rPr lang="en-IN" sz="1800" dirty="0"/>
              <a:t>Overall, we can say that this dataset is good for predicting the defaulters level using classification analysis and conclude that </a:t>
            </a:r>
            <a:r>
              <a:rPr lang="en-IN" sz="1800" dirty="0" err="1"/>
              <a:t>GradientBoosting</a:t>
            </a:r>
            <a:r>
              <a:rPr lang="en-IN" sz="1800" dirty="0"/>
              <a:t> Classifier is the best working algorithm model we obtained. We can improve the data by adding some more features.</a:t>
            </a:r>
          </a:p>
        </p:txBody>
      </p:sp>
    </p:spTree>
    <p:extLst>
      <p:ext uri="{BB962C8B-B14F-4D97-AF65-F5344CB8AC3E}">
        <p14:creationId xmlns:p14="http://schemas.microsoft.com/office/powerpoint/2010/main" val="1318244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1AAE91-8FC3-B0FA-8E93-7A21DD9B0282}"/>
              </a:ext>
            </a:extLst>
          </p:cNvPr>
          <p:cNvSpPr/>
          <p:nvPr/>
        </p:nvSpPr>
        <p:spPr>
          <a:xfrm>
            <a:off x="3125279" y="2321004"/>
            <a:ext cx="3728585" cy="1107996"/>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6600" dirty="0">
                <a:ln w="0"/>
                <a:effectLst>
                  <a:outerShdw blurRad="38100" dist="19050" dir="2700000" algn="tl" rotWithShape="0">
                    <a:schemeClr val="dk1">
                      <a:alpha val="40000"/>
                    </a:schemeClr>
                  </a:outerShdw>
                </a:effectLst>
              </a:rPr>
              <a:t>Thank you</a:t>
            </a:r>
            <a:endParaRPr lang="en-IN" sz="6600" dirty="0">
              <a:ln w="0"/>
              <a:effectLst>
                <a:outerShdw blurRad="38100" dist="19050" dir="2700000" algn="tl" rotWithShape="0">
                  <a:schemeClr val="dk1">
                    <a:alpha val="40000"/>
                  </a:schemeClr>
                </a:outerShdw>
              </a:effectLst>
            </a:endParaRPr>
          </a:p>
        </p:txBody>
      </p:sp>
      <p:sp>
        <p:nvSpPr>
          <p:cNvPr id="3" name="Smiley Face 2">
            <a:extLst>
              <a:ext uri="{FF2B5EF4-FFF2-40B4-BE49-F238E27FC236}">
                <a16:creationId xmlns:a16="http://schemas.microsoft.com/office/drawing/2014/main" id="{C91C653E-F744-A3E9-2CED-D067363808EC}"/>
              </a:ext>
            </a:extLst>
          </p:cNvPr>
          <p:cNvSpPr/>
          <p:nvPr/>
        </p:nvSpPr>
        <p:spPr>
          <a:xfrm>
            <a:off x="6985262" y="2655942"/>
            <a:ext cx="801279" cy="773058"/>
          </a:xfrm>
          <a:prstGeom prst="smileyFac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261923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187</TotalTime>
  <Words>3606</Words>
  <Application>Microsoft Office PowerPoint</Application>
  <PresentationFormat>Widescreen</PresentationFormat>
  <Paragraphs>161</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Bookman Old Style</vt:lpstr>
      <vt:lpstr>Calibri</vt:lpstr>
      <vt:lpstr>Calibri Light</vt:lpstr>
      <vt:lpstr>Century</vt:lpstr>
      <vt:lpstr>Courier New</vt:lpstr>
      <vt:lpstr>Wingdings</vt:lpstr>
      <vt:lpstr>Retrospect</vt:lpstr>
      <vt:lpstr>PowerPoint Presentation</vt:lpstr>
      <vt:lpstr>Content:</vt:lpstr>
      <vt:lpstr>Introduction:</vt:lpstr>
      <vt:lpstr>Problem Statement:</vt:lpstr>
      <vt:lpstr>Problem Understanding</vt:lpstr>
      <vt:lpstr>Analytical Problem:</vt:lpstr>
      <vt:lpstr>Exploratory data analysis</vt:lpstr>
      <vt:lpstr>Visualizations: Univariate Analysis</vt:lpstr>
      <vt:lpstr>PowerPoint Presentation</vt:lpstr>
      <vt:lpstr>Visualizations: Univariate Analysis</vt:lpstr>
      <vt:lpstr>Visualizations: Bivariate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Outliers</vt:lpstr>
      <vt:lpstr>PowerPoint Presentation</vt:lpstr>
      <vt:lpstr>Data After Removing Skewness and Outliers</vt:lpstr>
      <vt:lpstr>PowerPoint Presentation</vt:lpstr>
      <vt:lpstr>Data Balancing</vt:lpstr>
      <vt:lpstr>Data Analysis</vt:lpstr>
      <vt:lpstr>PowerPoint Presentation</vt:lpstr>
      <vt:lpstr>PowerPoint Presentation</vt:lpstr>
      <vt:lpstr>Decision Tree Classifier</vt:lpstr>
      <vt:lpstr>Random Forest Classifier</vt:lpstr>
      <vt:lpstr>Extra Trees Classifier</vt:lpstr>
      <vt:lpstr>Gradient Boosting Classifier</vt:lpstr>
      <vt:lpstr>Bagging Classifier</vt:lpstr>
      <vt:lpstr>Hyperparameter Tuning</vt:lpstr>
      <vt:lpstr>PowerPoint Presentation</vt:lpstr>
      <vt:lpstr>PowerPoint Presentation</vt:lpstr>
      <vt:lpstr>Conclusion</vt:lpstr>
      <vt:lpstr>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dc:creator>
  <cp:lastModifiedBy>Raj</cp:lastModifiedBy>
  <cp:revision>27</cp:revision>
  <dcterms:created xsi:type="dcterms:W3CDTF">2022-10-21T12:19:22Z</dcterms:created>
  <dcterms:modified xsi:type="dcterms:W3CDTF">2022-10-21T15:31:47Z</dcterms:modified>
</cp:coreProperties>
</file>