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324" r:id="rId4"/>
    <p:sldId id="323" r:id="rId5"/>
    <p:sldId id="328" r:id="rId6"/>
    <p:sldId id="333" r:id="rId7"/>
    <p:sldId id="33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399078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775559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409044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983A38-4E72-424A-9741-8D6F99140998}" type="datetimeFigureOut">
              <a:rPr lang="en-IN" smtClean="0"/>
              <a:t>27-12-2022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355670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983A38-4E72-424A-9741-8D6F99140998}" type="datetimeFigureOut">
              <a:rPr lang="en-IN" smtClean="0"/>
              <a:t>27-12-2022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98738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983A38-4E72-424A-9741-8D6F99140998}" type="datetimeFigureOut">
              <a:rPr lang="en-IN" smtClean="0"/>
              <a:t>27-12-2022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880983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983A38-4E72-424A-9741-8D6F99140998}" type="datetimeFigureOut">
              <a:rPr lang="en-IN" smtClean="0"/>
              <a:t>27-12-2022</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878782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983A38-4E72-424A-9741-8D6F99140998}" type="datetimeFigureOut">
              <a:rPr lang="en-IN" smtClean="0"/>
              <a:t>27-12-2022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104274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983A38-4E72-424A-9741-8D6F99140998}" type="datetimeFigureOut">
              <a:rPr lang="en-IN" smtClean="0"/>
              <a:t>27-12-2022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963133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983A38-4E72-424A-9741-8D6F99140998}" type="datetimeFigureOut">
              <a:rPr lang="en-IN" smtClean="0"/>
              <a:t>27-12-2022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400119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265890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4219426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1400507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983A38-4E72-424A-9741-8D6F99140998}" type="datetimeFigureOut">
              <a:rPr lang="en-IN" smtClean="0"/>
              <a:t>27-12-2022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8626088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983A38-4E72-424A-9741-8D6F99140998}" type="datetimeFigureOut">
              <a:rPr lang="en-IN" smtClean="0"/>
              <a:t>27-12-2022</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758774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790184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D983A38-4E72-424A-9741-8D6F99140998}" type="datetimeFigureOut">
              <a:rPr lang="en-IN" smtClean="0"/>
              <a:t>27-12-2022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A64CB0-81BC-42C9-881B-41781EA96ABA}" type="slidenum">
              <a:rPr lang="en-IN" smtClean="0"/>
              <a:t>‹#›</a:t>
            </a:fld>
            <a:endParaRPr lang="en-IN"/>
          </a:p>
        </p:txBody>
      </p:sp>
    </p:spTree>
    <p:extLst>
      <p:ext uri="{BB962C8B-B14F-4D97-AF65-F5344CB8AC3E}">
        <p14:creationId xmlns:p14="http://schemas.microsoft.com/office/powerpoint/2010/main" val="3741656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D983A38-4E72-424A-9741-8D6F99140998}" type="datetimeFigureOut">
              <a:rPr lang="en-IN" smtClean="0"/>
              <a:t>27-12-2022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6A64CB0-81BC-42C9-881B-41781EA96ABA}" type="slidenum">
              <a:rPr lang="en-IN" smtClean="0"/>
              <a:t>‹#›</a:t>
            </a:fld>
            <a:endParaRPr lang="en-IN"/>
          </a:p>
        </p:txBody>
      </p:sp>
    </p:spTree>
    <p:extLst>
      <p:ext uri="{BB962C8B-B14F-4D97-AF65-F5344CB8AC3E}">
        <p14:creationId xmlns:p14="http://schemas.microsoft.com/office/powerpoint/2010/main" val="33410167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02794" y="1962139"/>
            <a:ext cx="7186411" cy="2129440"/>
          </a:xfrm>
        </p:spPr>
        <p:txBody>
          <a:bodyPr>
            <a:normAutofit/>
          </a:bodyPr>
          <a:lstStyle/>
          <a:p>
            <a:pPr algn="ctr" defTabSz="914400" eaLnBrk="0" fontAlgn="base" hangingPunct="0">
              <a:spcAft>
                <a:spcPct val="0"/>
              </a:spcAft>
            </a:pPr>
            <a:r>
              <a:rPr lang="en-IN" sz="3600" b="1" cap="none" spc="0" dirty="0">
                <a:ln w="22225">
                  <a:solidFill>
                    <a:schemeClr val="accent2"/>
                  </a:solidFill>
                  <a:prstDash val="solid"/>
                </a:ln>
                <a:solidFill>
                  <a:schemeClr val="accent2">
                    <a:lumMod val="40000"/>
                    <a:lumOff val="60000"/>
                  </a:schemeClr>
                </a:solidFill>
                <a:effectLst/>
                <a:latin typeface="Arial" panose="020B0604020202020204" pitchFamily="34" charset="0"/>
                <a:ea typeface="Calibri" panose="020F0502020204030204" pitchFamily="34" charset="0"/>
                <a:cs typeface="Arial" panose="020B0604020202020204" pitchFamily="34" charset="0"/>
              </a:rPr>
              <a:t>Spam Detector</a:t>
            </a:r>
            <a:br>
              <a:rPr lang="en-IN" sz="3600" b="1" cap="none" spc="0" dirty="0">
                <a:ln w="22225">
                  <a:solidFill>
                    <a:schemeClr val="accent2"/>
                  </a:solidFill>
                  <a:prstDash val="solid"/>
                </a:ln>
                <a:solidFill>
                  <a:schemeClr val="accent2">
                    <a:lumMod val="40000"/>
                    <a:lumOff val="60000"/>
                  </a:schemeClr>
                </a:solidFill>
                <a:effectLst/>
              </a:rPr>
            </a:br>
            <a:endParaRPr kumimoji="0" lang="en-US" altLang="en-US" sz="3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7591313" y="5165224"/>
            <a:ext cx="4004061" cy="1372935"/>
          </a:xfrm>
        </p:spPr>
        <p:txBody>
          <a:bodyPr vert="horz" lIns="91440" tIns="45720" rIns="91440" bIns="45720" rtlCol="0" anchor="t">
            <a:noAutofit/>
          </a:bodyPr>
          <a:lstStyle/>
          <a:p>
            <a:r>
              <a:rPr lang="en-US" sz="2800" b="1" dirty="0">
                <a:solidFill>
                  <a:srgbClr val="00B050"/>
                </a:solidFill>
                <a:cs typeface="Arial" panose="020B0604020202020204" pitchFamily="34" charset="0"/>
              </a:rPr>
              <a:t>By- Raj Sharma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458694" y="611668"/>
            <a:ext cx="666680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IN" sz="4400" b="1" i="1" dirty="0">
                <a:latin typeface="+mj-lt"/>
                <a:cs typeface="Arial" panose="020B0604020202020204" pitchFamily="34" charset="0"/>
              </a:rPr>
              <a:t>INTRODUCTION</a:t>
            </a:r>
            <a:r>
              <a:rPr lang="en-US" sz="4400" b="1" i="1" dirty="0">
                <a:latin typeface="Arial" panose="020B0604020202020204" pitchFamily="34" charset="0"/>
                <a:cs typeface="Arial" panose="020B0604020202020204" pitchFamily="34" charset="0"/>
              </a:rPr>
              <a:t> </a:t>
            </a:r>
          </a:p>
        </p:txBody>
      </p:sp>
      <p:sp>
        <p:nvSpPr>
          <p:cNvPr id="4" name="TextBox 3"/>
          <p:cNvSpPr txBox="1"/>
          <p:nvPr/>
        </p:nvSpPr>
        <p:spPr>
          <a:xfrm>
            <a:off x="698648" y="1500272"/>
            <a:ext cx="10557488"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nSpc>
                <a:spcPts val="2400"/>
              </a:lnSpc>
            </a:pPr>
            <a:r>
              <a:rPr lang="en-IN" sz="1800" u="sng" spc="-5" dirty="0">
                <a:solidFill>
                  <a:srgbClr val="292929"/>
                </a:solidFill>
                <a:effectLst/>
                <a:latin typeface="Calibri" panose="020F0502020204030204" pitchFamily="34" charset="0"/>
                <a:ea typeface="Times New Roman" panose="02020603050405020304" pitchFamily="18" charset="0"/>
              </a:rPr>
              <a:t>Context</a:t>
            </a:r>
            <a:endParaRPr lang="en-IN" sz="1800" dirty="0">
              <a:effectLst/>
              <a:latin typeface="Times New Roman" panose="02020603050405020304" pitchFamily="18" charset="0"/>
              <a:ea typeface="Times New Roman" panose="02020603050405020304" pitchFamily="18" charset="0"/>
            </a:endParaRPr>
          </a:p>
          <a:p>
            <a:pPr>
              <a:lnSpc>
                <a:spcPts val="2400"/>
              </a:lnSpc>
            </a:pPr>
            <a:r>
              <a:rPr lang="en-IN" sz="1800" spc="-5" dirty="0">
                <a:solidFill>
                  <a:srgbClr val="292929"/>
                </a:solidFill>
                <a:effectLst/>
                <a:latin typeface="Calibri" panose="020F0502020204030204" pitchFamily="34" charset="0"/>
                <a:ea typeface="Times New Roman" panose="02020603050405020304" pitchFamily="18" charset="0"/>
              </a:rPr>
              <a:t>The SMS Spam Collection is a set of SMS tagged messages that have been collected for SMS Spam research. It contains one set of SMS messages in English of 5,574 messages, tagged according being ham (legitimate) or spam.</a:t>
            </a:r>
          </a:p>
          <a:p>
            <a:pPr>
              <a:lnSpc>
                <a:spcPts val="2400"/>
              </a:lnSpc>
            </a:pPr>
            <a:endParaRPr lang="en-IN" spc="-5" dirty="0">
              <a:solidFill>
                <a:srgbClr val="292929"/>
              </a:solidFill>
              <a:latin typeface="Calibri" panose="020F0502020204030204" pitchFamily="34" charset="0"/>
              <a:ea typeface="Times New Roman" panose="02020603050405020304" pitchFamily="18" charset="0"/>
            </a:endParaRPr>
          </a:p>
          <a:p>
            <a:pPr>
              <a:lnSpc>
                <a:spcPts val="2400"/>
              </a:lnSpc>
            </a:pPr>
            <a:r>
              <a:rPr lang="en-IN" sz="1800" u="sng" spc="-5" dirty="0">
                <a:solidFill>
                  <a:srgbClr val="292929"/>
                </a:solidFill>
                <a:effectLst/>
                <a:latin typeface="Calibri" panose="020F0502020204030204" pitchFamily="34" charset="0"/>
                <a:ea typeface="Times New Roman" panose="02020603050405020304" pitchFamily="18" charset="0"/>
              </a:rPr>
              <a:t>What is a Spam Filtering</a:t>
            </a:r>
            <a:r>
              <a:rPr lang="en-IN" sz="1800" spc="-5" dirty="0">
                <a:solidFill>
                  <a:srgbClr val="292929"/>
                </a:solidFill>
                <a:effectLst/>
                <a:latin typeface="Calibri" panose="020F0502020204030204" pitchFamily="34"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a:lnSpc>
                <a:spcPts val="2400"/>
              </a:lnSpc>
            </a:pPr>
            <a:r>
              <a:rPr lang="en-IN" sz="1800" spc="-5" dirty="0">
                <a:solidFill>
                  <a:srgbClr val="292929"/>
                </a:solidFill>
                <a:effectLst/>
                <a:latin typeface="Calibri" panose="020F0502020204030204" pitchFamily="34" charset="0"/>
                <a:ea typeface="Times New Roman" panose="02020603050405020304" pitchFamily="18" charset="0"/>
              </a:rPr>
              <a:t>Spam Detector is used to detect unwanted, malicious and virus infected texts and helps to separate them from the </a:t>
            </a:r>
            <a:r>
              <a:rPr lang="en-IN" sz="1800" spc="-5" dirty="0" err="1">
                <a:solidFill>
                  <a:srgbClr val="292929"/>
                </a:solidFill>
                <a:effectLst/>
                <a:latin typeface="Calibri" panose="020F0502020204030204" pitchFamily="34" charset="0"/>
                <a:ea typeface="Times New Roman" panose="02020603050405020304" pitchFamily="18" charset="0"/>
              </a:rPr>
              <a:t>nonspam</a:t>
            </a:r>
            <a:r>
              <a:rPr lang="en-IN" sz="1800" spc="-5" dirty="0">
                <a:solidFill>
                  <a:srgbClr val="292929"/>
                </a:solidFill>
                <a:effectLst/>
                <a:latin typeface="Calibri" panose="020F0502020204030204" pitchFamily="34" charset="0"/>
                <a:ea typeface="Times New Roman" panose="02020603050405020304" pitchFamily="18" charset="0"/>
              </a:rPr>
              <a:t> texts. It uses a binary type of classification containing the labels such as ‘</a:t>
            </a:r>
            <a:r>
              <a:rPr lang="en-IN" sz="1800" b="1" spc="-5" dirty="0">
                <a:solidFill>
                  <a:srgbClr val="292929"/>
                </a:solidFill>
                <a:effectLst/>
                <a:latin typeface="Calibri" panose="020F0502020204030204" pitchFamily="34" charset="0"/>
                <a:ea typeface="Times New Roman" panose="02020603050405020304" pitchFamily="18" charset="0"/>
              </a:rPr>
              <a:t>ham’</a:t>
            </a:r>
            <a:r>
              <a:rPr lang="en-IN" sz="1800" spc="-5" dirty="0">
                <a:solidFill>
                  <a:srgbClr val="292929"/>
                </a:solidFill>
                <a:effectLst/>
                <a:latin typeface="Calibri" panose="020F0502020204030204" pitchFamily="34" charset="0"/>
                <a:ea typeface="Times New Roman" panose="02020603050405020304" pitchFamily="18" charset="0"/>
              </a:rPr>
              <a:t> (</a:t>
            </a:r>
            <a:r>
              <a:rPr lang="en-IN" sz="1800" spc="-5" dirty="0" err="1">
                <a:solidFill>
                  <a:srgbClr val="292929"/>
                </a:solidFill>
                <a:effectLst/>
                <a:latin typeface="Calibri" panose="020F0502020204030204" pitchFamily="34" charset="0"/>
                <a:ea typeface="Times New Roman" panose="02020603050405020304" pitchFamily="18" charset="0"/>
              </a:rPr>
              <a:t>nonspam</a:t>
            </a:r>
            <a:r>
              <a:rPr lang="en-IN" sz="1800" spc="-5" dirty="0">
                <a:solidFill>
                  <a:srgbClr val="292929"/>
                </a:solidFill>
                <a:effectLst/>
                <a:latin typeface="Calibri" panose="020F0502020204030204" pitchFamily="34" charset="0"/>
                <a:ea typeface="Times New Roman" panose="02020603050405020304" pitchFamily="18" charset="0"/>
              </a:rPr>
              <a:t>) and </a:t>
            </a:r>
            <a:r>
              <a:rPr lang="en-IN" sz="1800" b="1" spc="-5" dirty="0">
                <a:solidFill>
                  <a:srgbClr val="292929"/>
                </a:solidFill>
                <a:effectLst/>
                <a:latin typeface="Calibri" panose="020F0502020204030204" pitchFamily="34" charset="0"/>
                <a:ea typeface="Times New Roman" panose="02020603050405020304" pitchFamily="18" charset="0"/>
              </a:rPr>
              <a:t>spam</a:t>
            </a:r>
            <a:r>
              <a:rPr lang="en-IN" sz="1800" spc="-5" dirty="0">
                <a:solidFill>
                  <a:srgbClr val="292929"/>
                </a:solidFill>
                <a:effectLst/>
                <a:latin typeface="Calibri" panose="020F0502020204030204" pitchFamily="34" charset="0"/>
                <a:ea typeface="Times New Roman" panose="02020603050405020304" pitchFamily="18" charset="0"/>
              </a:rPr>
              <a:t>. Application of this can be seen in Google Mail (GMAIL) where it segregates the spam emails in order to prevent them from getting into the user’s inbox.</a:t>
            </a:r>
            <a:endParaRPr lang="en-IN" sz="1800" dirty="0">
              <a:effectLst/>
              <a:latin typeface="Times New Roman" panose="02020603050405020304" pitchFamily="18" charset="0"/>
              <a:ea typeface="Times New Roman" panose="02020603050405020304" pitchFamily="18" charset="0"/>
            </a:endParaRPr>
          </a:p>
          <a:p>
            <a:pPr>
              <a:lnSpc>
                <a:spcPts val="2400"/>
              </a:lnSpc>
            </a:pPr>
            <a:endParaRPr lang="en-IN" sz="1800" spc="-5" dirty="0">
              <a:solidFill>
                <a:srgbClr val="292929"/>
              </a:solidFill>
              <a:effectLst/>
              <a:latin typeface="Calibri" panose="020F0502020204030204" pitchFamily="34" charset="0"/>
              <a:ea typeface="Times New Roman" panose="02020603050405020304" pitchFamily="18" charset="0"/>
            </a:endParaRPr>
          </a:p>
          <a:p>
            <a:pPr>
              <a:lnSpc>
                <a:spcPts val="2400"/>
              </a:lnSpc>
            </a:pPr>
            <a:endParaRPr lang="en-IN" sz="1800" dirty="0">
              <a:effectLst/>
              <a:latin typeface="Times New Roman" panose="02020603050405020304" pitchFamily="18" charset="0"/>
              <a:ea typeface="Times New Roman" panose="02020603050405020304" pitchFamily="18" charset="0"/>
            </a:endParaRPr>
          </a:p>
          <a:p>
            <a:pPr algn="just"/>
            <a:endParaRPr lang="en-US" sz="2000" dirty="0">
              <a:ea typeface="+mn-lt"/>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23C455-0824-43C5-A4BA-6B7E73EA0D01}"/>
              </a:ext>
            </a:extLst>
          </p:cNvPr>
          <p:cNvSpPr txBox="1"/>
          <p:nvPr/>
        </p:nvSpPr>
        <p:spPr>
          <a:xfrm>
            <a:off x="2458694" y="611668"/>
            <a:ext cx="666680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IN" sz="4400" b="1" i="1" dirty="0">
                <a:latin typeface="+mj-lt"/>
                <a:cs typeface="Arial" panose="020B0604020202020204" pitchFamily="34" charset="0"/>
              </a:rPr>
              <a:t>INTRODUCTION</a:t>
            </a:r>
            <a:r>
              <a:rPr lang="en-US" sz="4400" b="1" i="1" dirty="0">
                <a:latin typeface="Arial" panose="020B0604020202020204" pitchFamily="34" charset="0"/>
                <a:cs typeface="Arial" panose="020B0604020202020204" pitchFamily="34" charset="0"/>
              </a:rPr>
              <a:t> </a:t>
            </a:r>
          </a:p>
        </p:txBody>
      </p:sp>
      <p:sp>
        <p:nvSpPr>
          <p:cNvPr id="4" name="TextBox 3">
            <a:extLst>
              <a:ext uri="{FF2B5EF4-FFF2-40B4-BE49-F238E27FC236}">
                <a16:creationId xmlns:a16="http://schemas.microsoft.com/office/drawing/2014/main" id="{32AA6CAF-5746-4552-B4E9-C35F2BD97E9E}"/>
              </a:ext>
            </a:extLst>
          </p:cNvPr>
          <p:cNvSpPr txBox="1"/>
          <p:nvPr/>
        </p:nvSpPr>
        <p:spPr>
          <a:xfrm>
            <a:off x="746422" y="1513151"/>
            <a:ext cx="10699155" cy="315259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nSpc>
                <a:spcPts val="2400"/>
              </a:lnSpc>
              <a:buFont typeface="Wingdings" panose="05000000000000000000" pitchFamily="2" charset="2"/>
              <a:buChar char="Ø"/>
            </a:pPr>
            <a:r>
              <a:rPr lang="en-IN" sz="1800" spc="-5" dirty="0">
                <a:solidFill>
                  <a:srgbClr val="292929"/>
                </a:solidFill>
                <a:effectLst/>
                <a:latin typeface="Calibri" panose="020F0502020204030204" pitchFamily="34" charset="0"/>
                <a:ea typeface="Times New Roman" panose="02020603050405020304" pitchFamily="18" charset="0"/>
              </a:rPr>
              <a:t>A collection of 5573 rows SMS spam messages was manually extracted from the </a:t>
            </a:r>
            <a:r>
              <a:rPr lang="en-IN" sz="1800" spc="-5" dirty="0" err="1">
                <a:solidFill>
                  <a:srgbClr val="292929"/>
                </a:solidFill>
                <a:effectLst/>
                <a:latin typeface="Calibri" panose="020F0502020204030204" pitchFamily="34" charset="0"/>
                <a:ea typeface="Times New Roman" panose="02020603050405020304" pitchFamily="18" charset="0"/>
              </a:rPr>
              <a:t>Grumbletext</a:t>
            </a:r>
            <a:r>
              <a:rPr lang="en-IN" sz="1800" spc="-5" dirty="0">
                <a:solidFill>
                  <a:srgbClr val="292929"/>
                </a:solidFill>
                <a:effectLst/>
                <a:latin typeface="Calibri" panose="020F0502020204030204" pitchFamily="34" charset="0"/>
                <a:ea typeface="Times New Roman" panose="02020603050405020304" pitchFamily="18" charset="0"/>
              </a:rPr>
              <a:t> Web site. This is a UK forum in which cell phone users make public claims about SMS spam messages, most of them without reporting the very spam message received. The identification of the text of spam messages in the claims is a very hard and time-consuming task, and it involved carefully scanning hundreds of web pages. </a:t>
            </a:r>
            <a:endParaRPr lang="en-IN" dirty="0">
              <a:latin typeface="Times New Roman" panose="02020603050405020304" pitchFamily="18" charset="0"/>
              <a:ea typeface="Times New Roman" panose="02020603050405020304" pitchFamily="18" charset="0"/>
            </a:endParaRPr>
          </a:p>
          <a:p>
            <a:pPr marL="285750" indent="-285750">
              <a:lnSpc>
                <a:spcPts val="2400"/>
              </a:lnSpc>
              <a:buFont typeface="Wingdings" panose="05000000000000000000" pitchFamily="2" charset="2"/>
              <a:buChar char="Ø"/>
            </a:pPr>
            <a:endParaRPr lang="en-IN" sz="1800" spc="-5" dirty="0">
              <a:solidFill>
                <a:srgbClr val="292929"/>
              </a:solidFill>
              <a:effectLst/>
              <a:latin typeface="Times New Roman" panose="02020603050405020304" pitchFamily="18" charset="0"/>
              <a:ea typeface="Times New Roman" panose="02020603050405020304" pitchFamily="18" charset="0"/>
            </a:endParaRPr>
          </a:p>
          <a:p>
            <a:pPr marL="285750" indent="-285750">
              <a:lnSpc>
                <a:spcPts val="2400"/>
              </a:lnSpc>
              <a:buFont typeface="Wingdings" panose="05000000000000000000" pitchFamily="2" charset="2"/>
              <a:buChar char="Ø"/>
            </a:pPr>
            <a:r>
              <a:rPr lang="en-IN" sz="1800" spc="-5" dirty="0">
                <a:solidFill>
                  <a:srgbClr val="292929"/>
                </a:solidFill>
                <a:effectLst/>
                <a:latin typeface="Calibri" panose="020F0502020204030204" pitchFamily="34" charset="0"/>
                <a:ea typeface="Times New Roman" panose="02020603050405020304" pitchFamily="18" charset="0"/>
              </a:rPr>
              <a:t>A subset of 3,375 SMS randomly chosen ham messages of the NUS SMS Corpus (NSC), which is a dataset of about 10,000 legitimate messages collected for research at the Department of Computer Science at the National University of Singapore. The messages largely originate from Singaporeans and mostly from students attending the University. These messages were collected from volunteers who were made aware that their contributions were going to be made publicly available.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77849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A4D90C-0487-4C15-B862-01F64C8367CA}"/>
              </a:ext>
            </a:extLst>
          </p:cNvPr>
          <p:cNvSpPr txBox="1"/>
          <p:nvPr/>
        </p:nvSpPr>
        <p:spPr>
          <a:xfrm>
            <a:off x="2906617" y="716861"/>
            <a:ext cx="775671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IN" sz="3200" b="1" dirty="0">
                <a:latin typeface="+mj-lt"/>
                <a:cs typeface="Arial" panose="020B0604020202020204" pitchFamily="34" charset="0"/>
              </a:rPr>
              <a:t>PROBLEM STATEMENT </a:t>
            </a:r>
            <a:endParaRPr lang="en-US" b="1" dirty="0">
              <a:latin typeface="+mj-lt"/>
              <a:cs typeface="Arial" panose="020B0604020202020204" pitchFamily="34" charset="0"/>
            </a:endParaRPr>
          </a:p>
        </p:txBody>
      </p:sp>
      <p:sp>
        <p:nvSpPr>
          <p:cNvPr id="3" name="TextBox 2">
            <a:extLst>
              <a:ext uri="{FF2B5EF4-FFF2-40B4-BE49-F238E27FC236}">
                <a16:creationId xmlns:a16="http://schemas.microsoft.com/office/drawing/2014/main" id="{53B5B3F9-8B0F-46EA-923F-C71B32BE5243}"/>
              </a:ext>
            </a:extLst>
          </p:cNvPr>
          <p:cNvSpPr txBox="1"/>
          <p:nvPr/>
        </p:nvSpPr>
        <p:spPr>
          <a:xfrm>
            <a:off x="843014" y="1620544"/>
            <a:ext cx="10505971" cy="161371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nSpc>
                <a:spcPts val="2400"/>
              </a:lnSpc>
            </a:pPr>
            <a:r>
              <a:rPr lang="en-IN" sz="1800" spc="-5" dirty="0">
                <a:solidFill>
                  <a:srgbClr val="292929"/>
                </a:solidFill>
                <a:effectLst/>
                <a:latin typeface="Calibri" panose="020F0502020204030204" pitchFamily="34" charset="0"/>
                <a:ea typeface="Times New Roman" panose="02020603050405020304" pitchFamily="18" charset="0"/>
              </a:rPr>
              <a:t>: It is a supervised machine learning algorithm where words probabilities play the main rule here. If some words occur often in spam but not in ham, then this incoming e-mail is probably spam. Naïve bayes classifier technique has become a very popular method in mail filtering software. Bayesian filter should be trained to work effectively. Every word has certain probability of occurring in spam or ham email in its database. If the total of words probabilities exceeds a certain limit, the filter will mark the e-mail to either category.</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8390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F63DAEF-D008-44F9-9ACA-3E854A6BC371}"/>
              </a:ext>
            </a:extLst>
          </p:cNvPr>
          <p:cNvSpPr txBox="1"/>
          <p:nvPr/>
        </p:nvSpPr>
        <p:spPr>
          <a:xfrm>
            <a:off x="1378038" y="3059668"/>
            <a:ext cx="2781837" cy="369332"/>
          </a:xfrm>
          <a:prstGeom prst="rect">
            <a:avLst/>
          </a:prstGeom>
          <a:noFill/>
        </p:spPr>
        <p:txBody>
          <a:bodyPr wrap="square" rtlCol="0">
            <a:spAutoFit/>
          </a:bodyPr>
          <a:lstStyle/>
          <a:p>
            <a:r>
              <a:rPr lang="en-US" dirty="0"/>
              <a:t>Text Mining Library used</a:t>
            </a:r>
            <a:endParaRPr lang="en-IN" dirty="0"/>
          </a:p>
        </p:txBody>
      </p:sp>
      <p:sp>
        <p:nvSpPr>
          <p:cNvPr id="7" name="TextBox 6">
            <a:extLst>
              <a:ext uri="{FF2B5EF4-FFF2-40B4-BE49-F238E27FC236}">
                <a16:creationId xmlns:a16="http://schemas.microsoft.com/office/drawing/2014/main" id="{81A82483-21C2-4528-B90B-B0177A53DB52}"/>
              </a:ext>
            </a:extLst>
          </p:cNvPr>
          <p:cNvSpPr txBox="1"/>
          <p:nvPr/>
        </p:nvSpPr>
        <p:spPr>
          <a:xfrm>
            <a:off x="1378037" y="4810113"/>
            <a:ext cx="2781837" cy="646331"/>
          </a:xfrm>
          <a:prstGeom prst="rect">
            <a:avLst/>
          </a:prstGeom>
          <a:noFill/>
        </p:spPr>
        <p:txBody>
          <a:bodyPr wrap="square" rtlCol="0">
            <a:spAutoFit/>
          </a:bodyPr>
          <a:lstStyle/>
          <a:p>
            <a:r>
              <a:rPr lang="en-US" dirty="0"/>
              <a:t>Machine Learning model building Library used</a:t>
            </a:r>
            <a:endParaRPr lang="en-IN" dirty="0"/>
          </a:p>
        </p:txBody>
      </p:sp>
      <p:pic>
        <p:nvPicPr>
          <p:cNvPr id="8" name="Picture 7">
            <a:extLst>
              <a:ext uri="{FF2B5EF4-FFF2-40B4-BE49-F238E27FC236}">
                <a16:creationId xmlns:a16="http://schemas.microsoft.com/office/drawing/2014/main" id="{00BD6747-EDE3-9BF3-58C0-ACFEE77C3196}"/>
              </a:ext>
            </a:extLst>
          </p:cNvPr>
          <p:cNvPicPr>
            <a:picLocks noChangeAspect="1"/>
          </p:cNvPicPr>
          <p:nvPr/>
        </p:nvPicPr>
        <p:blipFill>
          <a:blip r:embed="rId2"/>
          <a:stretch>
            <a:fillRect/>
          </a:stretch>
        </p:blipFill>
        <p:spPr>
          <a:xfrm>
            <a:off x="3271732" y="2969442"/>
            <a:ext cx="7648146" cy="1244485"/>
          </a:xfrm>
          <a:prstGeom prst="rect">
            <a:avLst/>
          </a:prstGeom>
        </p:spPr>
      </p:pic>
      <p:pic>
        <p:nvPicPr>
          <p:cNvPr id="11" name="Picture 10">
            <a:extLst>
              <a:ext uri="{FF2B5EF4-FFF2-40B4-BE49-F238E27FC236}">
                <a16:creationId xmlns:a16="http://schemas.microsoft.com/office/drawing/2014/main" id="{147CA258-D83E-1683-8E64-6E8D98174A53}"/>
              </a:ext>
            </a:extLst>
          </p:cNvPr>
          <p:cNvPicPr>
            <a:picLocks noChangeAspect="1"/>
          </p:cNvPicPr>
          <p:nvPr/>
        </p:nvPicPr>
        <p:blipFill>
          <a:blip r:embed="rId3"/>
          <a:stretch>
            <a:fillRect/>
          </a:stretch>
        </p:blipFill>
        <p:spPr>
          <a:xfrm>
            <a:off x="4083612" y="4825730"/>
            <a:ext cx="8108388" cy="769310"/>
          </a:xfrm>
          <a:prstGeom prst="rect">
            <a:avLst/>
          </a:prstGeom>
        </p:spPr>
      </p:pic>
    </p:spTree>
    <p:extLst>
      <p:ext uri="{BB962C8B-B14F-4D97-AF65-F5344CB8AC3E}">
        <p14:creationId xmlns:p14="http://schemas.microsoft.com/office/powerpoint/2010/main" val="2071786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2243-A2A9-4D9B-B8AD-D4642BE804CE}"/>
              </a:ext>
            </a:extLst>
          </p:cNvPr>
          <p:cNvSpPr>
            <a:spLocks noGrp="1"/>
          </p:cNvSpPr>
          <p:nvPr>
            <p:ph type="title"/>
          </p:nvPr>
        </p:nvSpPr>
        <p:spPr/>
        <p:txBody>
          <a:bodyPr/>
          <a:lstStyle/>
          <a:p>
            <a:r>
              <a:rPr lang="en-US" dirty="0"/>
              <a:t>Model Accuracy</a:t>
            </a:r>
            <a:endParaRPr lang="en-IN" dirty="0"/>
          </a:p>
        </p:txBody>
      </p:sp>
      <p:pic>
        <p:nvPicPr>
          <p:cNvPr id="1026" name="Picture 2">
            <a:extLst>
              <a:ext uri="{FF2B5EF4-FFF2-40B4-BE49-F238E27FC236}">
                <a16:creationId xmlns:a16="http://schemas.microsoft.com/office/drawing/2014/main" id="{FEE604C2-48BF-1939-508C-EAC962D23C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59542" y="2603500"/>
            <a:ext cx="4817228"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874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2243-A2A9-4D9B-B8AD-D4642BE804CE}"/>
              </a:ext>
            </a:extLst>
          </p:cNvPr>
          <p:cNvSpPr>
            <a:spLocks noGrp="1"/>
          </p:cNvSpPr>
          <p:nvPr>
            <p:ph type="title"/>
          </p:nvPr>
        </p:nvSpPr>
        <p:spPr/>
        <p:txBody>
          <a:bodyPr/>
          <a:lstStyle/>
          <a:p>
            <a:r>
              <a:rPr lang="en-US" dirty="0"/>
              <a:t>Confusion matrix</a:t>
            </a:r>
            <a:endParaRPr lang="en-IN" dirty="0"/>
          </a:p>
        </p:txBody>
      </p:sp>
      <p:pic>
        <p:nvPicPr>
          <p:cNvPr id="2050" name="Picture 2">
            <a:extLst>
              <a:ext uri="{FF2B5EF4-FFF2-40B4-BE49-F238E27FC236}">
                <a16:creationId xmlns:a16="http://schemas.microsoft.com/office/drawing/2014/main" id="{1F85809D-E7B1-83CF-3898-DD82A0F3EE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4749" y="2688342"/>
            <a:ext cx="4497718" cy="3416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DCF8144-7589-BF3D-A4F0-75936AFA012A}"/>
              </a:ext>
            </a:extLst>
          </p:cNvPr>
          <p:cNvPicPr>
            <a:picLocks noChangeAspect="1"/>
          </p:cNvPicPr>
          <p:nvPr/>
        </p:nvPicPr>
        <p:blipFill>
          <a:blip r:embed="rId3"/>
          <a:stretch>
            <a:fillRect/>
          </a:stretch>
        </p:blipFill>
        <p:spPr>
          <a:xfrm>
            <a:off x="5382661" y="3429000"/>
            <a:ext cx="6630839" cy="1571888"/>
          </a:xfrm>
          <a:prstGeom prst="rect">
            <a:avLst/>
          </a:prstGeom>
        </p:spPr>
      </p:pic>
    </p:spTree>
    <p:extLst>
      <p:ext uri="{BB962C8B-B14F-4D97-AF65-F5344CB8AC3E}">
        <p14:creationId xmlns:p14="http://schemas.microsoft.com/office/powerpoint/2010/main" val="31909037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Override1.xml><?xml version="1.0" encoding="utf-8"?>
<a:themeOverride xmlns:a="http://schemas.openxmlformats.org/drawingml/2006/main">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themeOverride>
</file>

<file path=docProps/app.xml><?xml version="1.0" encoding="utf-8"?>
<Properties xmlns="http://schemas.openxmlformats.org/officeDocument/2006/extended-properties" xmlns:vt="http://schemas.openxmlformats.org/officeDocument/2006/docPropsVTypes">
  <Template/>
  <TotalTime>52</TotalTime>
  <Words>398</Words>
  <Application>Microsoft Office PowerPoint</Application>
  <PresentationFormat>Widescreen</PresentationFormat>
  <Paragraphs>19</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Century Gothic</vt:lpstr>
      <vt:lpstr>Times New Roman</vt:lpstr>
      <vt:lpstr>Wingdings</vt:lpstr>
      <vt:lpstr>Wingdings 3</vt:lpstr>
      <vt:lpstr>Ion Boardroom</vt:lpstr>
      <vt:lpstr>Spam Detector </vt:lpstr>
      <vt:lpstr>PowerPoint Presentation</vt:lpstr>
      <vt:lpstr>PowerPoint Presentation</vt:lpstr>
      <vt:lpstr>PowerPoint Presentation</vt:lpstr>
      <vt:lpstr>PowerPoint Presentation</vt:lpstr>
      <vt:lpstr>Model Accuracy</vt:lpstr>
      <vt:lpstr>Confusion matrix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dc:creator>
  <cp:lastModifiedBy>Raj</cp:lastModifiedBy>
  <cp:revision>2</cp:revision>
  <dcterms:created xsi:type="dcterms:W3CDTF">2022-12-06T17:51:49Z</dcterms:created>
  <dcterms:modified xsi:type="dcterms:W3CDTF">2022-12-27T16:30:53Z</dcterms:modified>
</cp:coreProperties>
</file>